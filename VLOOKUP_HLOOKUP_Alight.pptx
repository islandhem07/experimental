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1441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cover the two Excel lookup functions the team asks about most: VLOOKUP and HLOOKUP. By the end you will be able to build both from scratch, know which one to reach for, and fix the #N/A error when it appears. No prior formula experience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whole session with this one picture. VLOOKUP reads DOWN a column; HLOOKUP reads ACROSS a row. Same idea, rotated 90 degrees. If they remember nothing else, they should remember which way each one looks.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moment here. This is the step people skip. Two requirements: the matching column must be on the LEFT of the table, and the values you want must be to its RIGHT. Point at the yellow 1 2 3 4 badges: the column numbers count from the first column of the table, so Emp ID is 1, Name is 2, Department is 3, Salary is 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is just typing what you already know: the employee ID, E001. Look at the green dashed box. The three answer cells stay completely empty. This is the part that surprises people. You never type the name, the department or the salary; the formula fetches them. The yellow box in C17 is called the lookup value.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them through the four arguments in order. C17 is what we are looking for. $B$5:$E$14 is the whole table, from the matching column to the last answer column. The dollar signs lock it so it still works when copied down. The 2 is the column number: change it to 3 for Department and 4 for Salary. FALSE means exact match, so always use FALSE.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payoff. E001 is typed once and Excel returns Alice Johnson, Sales and 52,000. The drop-down list is optional but very handy: select the ID column, Data ribbon, Data Validation, Allow: List, then pick the ID column as the source. After that anyone can pick an ID from a list and every answer refreshes on its own.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HLOOKUP is the same idea rotated. Here the ratings sit side by side along row 1 and the bonus percentages along row 2. Excel walks sideways to find the rating, then steps down to read the value underneath it. If your table reads left to right, this is your function.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differences from VLOOKUP. The table range now runs across the columns, and instead of a column number we give a ROW number. Row 1 holds the ratings, so row 2 holds the bonus, hence the 2. Add a drop-down list of the four ratings and the whole lookup becomes a single click.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this as a one-line rule: look at how the labels are arranged. Column of labels = VLOOKUP, column number. Row of labels = HLOOKUP, row number. Everything else, including the lookup value, the range and the FALSE, stays exactly the same.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rules. They prevent almost every lookup problem we see. Then the recap: VLOOKUP searches down a column, HLOOKUP searches across a row, both use the same four-part formula, and both end in FALSE. Offer to sit with anyone who wants to build their first one on real work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029"/>
        </a:solidFill>
        <a:effectLst/>
      </p:bgPr>
    </p:bg>
    <p:spTree>
      <p:nvGrpSpPr>
        <p:cNvPr id="1" name=""/>
        <p:cNvGrpSpPr/>
        <p:nvPr/>
      </p:nvGrpSpPr>
      <p:grpSpPr>
        <a:xfrm>
          <a:off x="0" y="0"/>
          <a:ext cx="0" cy="0"/>
          <a:chOff x="0" y="0"/>
          <a:chExt cx="0" cy="0"/>
        </a:xfrm>
      </p:grpSpPr>
      <p:sp>
        <p:nvSpPr>
          <p:cNvPr id="2" name="Shape 0"/>
          <p:cNvSpPr/>
          <p:nvPr/>
        </p:nvSpPr>
        <p:spPr>
          <a:xfrm>
            <a:off x="7973568" y="2103120"/>
            <a:ext cx="749808" cy="749808"/>
          </a:xfrm>
          <a:prstGeom prst="rect">
            <a:avLst/>
          </a:prstGeom>
          <a:solidFill>
            <a:srgbClr val="0A2029">
              <a:alpha val="0"/>
            </a:srgbClr>
          </a:solidFill>
          <a:ln w="12700">
            <a:solidFill>
              <a:srgbClr val="2F4149"/>
            </a:solidFill>
            <a:prstDash val="solid"/>
          </a:ln>
        </p:spPr>
      </p:sp>
      <p:sp>
        <p:nvSpPr>
          <p:cNvPr id="3" name="Shape 1"/>
          <p:cNvSpPr/>
          <p:nvPr/>
        </p:nvSpPr>
        <p:spPr>
          <a:xfrm>
            <a:off x="8823960" y="2103120"/>
            <a:ext cx="749808" cy="749808"/>
          </a:xfrm>
          <a:prstGeom prst="rect">
            <a:avLst/>
          </a:prstGeom>
          <a:solidFill>
            <a:srgbClr val="0A2029">
              <a:alpha val="0"/>
            </a:srgbClr>
          </a:solidFill>
          <a:ln w="12700">
            <a:solidFill>
              <a:srgbClr val="2F4149"/>
            </a:solidFill>
            <a:prstDash val="solid"/>
          </a:ln>
        </p:spPr>
      </p:sp>
      <p:sp>
        <p:nvSpPr>
          <p:cNvPr id="4" name="Shape 2"/>
          <p:cNvSpPr/>
          <p:nvPr/>
        </p:nvSpPr>
        <p:spPr>
          <a:xfrm>
            <a:off x="9674352" y="2103120"/>
            <a:ext cx="749808" cy="749808"/>
          </a:xfrm>
          <a:prstGeom prst="rect">
            <a:avLst/>
          </a:prstGeom>
          <a:solidFill>
            <a:srgbClr val="0A2029">
              <a:alpha val="0"/>
            </a:srgbClr>
          </a:solidFill>
          <a:ln w="12700">
            <a:solidFill>
              <a:srgbClr val="2F4149"/>
            </a:solidFill>
            <a:prstDash val="solid"/>
          </a:ln>
        </p:spPr>
      </p:sp>
      <p:sp>
        <p:nvSpPr>
          <p:cNvPr id="5" name="Shape 3"/>
          <p:cNvSpPr/>
          <p:nvPr/>
        </p:nvSpPr>
        <p:spPr>
          <a:xfrm>
            <a:off x="10524744" y="2103120"/>
            <a:ext cx="749808" cy="749808"/>
          </a:xfrm>
          <a:prstGeom prst="rect">
            <a:avLst/>
          </a:prstGeom>
          <a:solidFill>
            <a:srgbClr val="0A2029">
              <a:alpha val="0"/>
            </a:srgbClr>
          </a:solidFill>
          <a:ln w="12700">
            <a:solidFill>
              <a:srgbClr val="2F4149"/>
            </a:solidFill>
            <a:prstDash val="solid"/>
          </a:ln>
        </p:spPr>
      </p:sp>
      <p:sp>
        <p:nvSpPr>
          <p:cNvPr id="6" name="Shape 4"/>
          <p:cNvSpPr/>
          <p:nvPr/>
        </p:nvSpPr>
        <p:spPr>
          <a:xfrm>
            <a:off x="7973568" y="2953512"/>
            <a:ext cx="749808" cy="749808"/>
          </a:xfrm>
          <a:prstGeom prst="rect">
            <a:avLst/>
          </a:prstGeom>
          <a:solidFill>
            <a:srgbClr val="0A2029">
              <a:alpha val="0"/>
            </a:srgbClr>
          </a:solidFill>
          <a:ln w="12700">
            <a:solidFill>
              <a:srgbClr val="2F4149"/>
            </a:solidFill>
            <a:prstDash val="solid"/>
          </a:ln>
        </p:spPr>
      </p:sp>
      <p:sp>
        <p:nvSpPr>
          <p:cNvPr id="7" name="Shape 5"/>
          <p:cNvSpPr/>
          <p:nvPr/>
        </p:nvSpPr>
        <p:spPr>
          <a:xfrm>
            <a:off x="8823960" y="2953512"/>
            <a:ext cx="749808" cy="749808"/>
          </a:xfrm>
          <a:prstGeom prst="rect">
            <a:avLst/>
          </a:prstGeom>
          <a:solidFill>
            <a:srgbClr val="FFF200"/>
          </a:solidFill>
          <a:ln w="12700">
            <a:solidFill>
              <a:srgbClr val="FFF200"/>
            </a:solidFill>
            <a:prstDash val="solid"/>
          </a:ln>
        </p:spPr>
      </p:sp>
      <p:sp>
        <p:nvSpPr>
          <p:cNvPr id="8" name="Shape 6"/>
          <p:cNvSpPr/>
          <p:nvPr/>
        </p:nvSpPr>
        <p:spPr>
          <a:xfrm>
            <a:off x="9674352" y="2953512"/>
            <a:ext cx="749808" cy="749808"/>
          </a:xfrm>
          <a:prstGeom prst="rect">
            <a:avLst/>
          </a:prstGeom>
          <a:solidFill>
            <a:srgbClr val="0A2029">
              <a:alpha val="0"/>
            </a:srgbClr>
          </a:solidFill>
          <a:ln w="12700">
            <a:solidFill>
              <a:srgbClr val="2F4149"/>
            </a:solidFill>
            <a:prstDash val="solid"/>
          </a:ln>
        </p:spPr>
      </p:sp>
      <p:sp>
        <p:nvSpPr>
          <p:cNvPr id="9" name="Shape 7"/>
          <p:cNvSpPr/>
          <p:nvPr/>
        </p:nvSpPr>
        <p:spPr>
          <a:xfrm>
            <a:off x="10524744" y="2953512"/>
            <a:ext cx="749808" cy="749808"/>
          </a:xfrm>
          <a:prstGeom prst="rect">
            <a:avLst/>
          </a:prstGeom>
          <a:solidFill>
            <a:srgbClr val="0A2029">
              <a:alpha val="0"/>
            </a:srgbClr>
          </a:solidFill>
          <a:ln w="12700">
            <a:solidFill>
              <a:srgbClr val="2F4149"/>
            </a:solidFill>
            <a:prstDash val="solid"/>
          </a:ln>
        </p:spPr>
      </p:sp>
      <p:sp>
        <p:nvSpPr>
          <p:cNvPr id="10" name="Shape 8"/>
          <p:cNvSpPr/>
          <p:nvPr/>
        </p:nvSpPr>
        <p:spPr>
          <a:xfrm>
            <a:off x="7973568" y="3803904"/>
            <a:ext cx="749808" cy="749808"/>
          </a:xfrm>
          <a:prstGeom prst="rect">
            <a:avLst/>
          </a:prstGeom>
          <a:solidFill>
            <a:srgbClr val="0A2029">
              <a:alpha val="0"/>
            </a:srgbClr>
          </a:solidFill>
          <a:ln w="12700">
            <a:solidFill>
              <a:srgbClr val="2F4149"/>
            </a:solidFill>
            <a:prstDash val="solid"/>
          </a:ln>
        </p:spPr>
      </p:sp>
      <p:sp>
        <p:nvSpPr>
          <p:cNvPr id="11" name="Shape 9"/>
          <p:cNvSpPr/>
          <p:nvPr/>
        </p:nvSpPr>
        <p:spPr>
          <a:xfrm>
            <a:off x="8823960" y="3803904"/>
            <a:ext cx="749808" cy="749808"/>
          </a:xfrm>
          <a:prstGeom prst="rect">
            <a:avLst/>
          </a:prstGeom>
          <a:solidFill>
            <a:srgbClr val="0A2029">
              <a:alpha val="0"/>
            </a:srgbClr>
          </a:solidFill>
          <a:ln w="12700">
            <a:solidFill>
              <a:srgbClr val="2F4149"/>
            </a:solidFill>
            <a:prstDash val="solid"/>
          </a:ln>
        </p:spPr>
      </p:sp>
      <p:sp>
        <p:nvSpPr>
          <p:cNvPr id="12" name="Shape 10"/>
          <p:cNvSpPr/>
          <p:nvPr/>
        </p:nvSpPr>
        <p:spPr>
          <a:xfrm>
            <a:off x="9674352" y="3803904"/>
            <a:ext cx="749808" cy="749808"/>
          </a:xfrm>
          <a:prstGeom prst="rect">
            <a:avLst/>
          </a:prstGeom>
          <a:solidFill>
            <a:srgbClr val="0A2029">
              <a:alpha val="0"/>
            </a:srgbClr>
          </a:solidFill>
          <a:ln w="12700">
            <a:solidFill>
              <a:srgbClr val="2F4149"/>
            </a:solidFill>
            <a:prstDash val="solid"/>
          </a:ln>
        </p:spPr>
      </p:sp>
      <p:sp>
        <p:nvSpPr>
          <p:cNvPr id="13" name="Shape 11"/>
          <p:cNvSpPr/>
          <p:nvPr/>
        </p:nvSpPr>
        <p:spPr>
          <a:xfrm>
            <a:off x="10524744" y="3803904"/>
            <a:ext cx="749808" cy="749808"/>
          </a:xfrm>
          <a:prstGeom prst="rect">
            <a:avLst/>
          </a:prstGeom>
          <a:solidFill>
            <a:srgbClr val="0A2029">
              <a:alpha val="0"/>
            </a:srgbClr>
          </a:solidFill>
          <a:ln w="12700">
            <a:solidFill>
              <a:srgbClr val="2F4149"/>
            </a:solidFill>
            <a:prstDash val="solid"/>
          </a:ln>
        </p:spPr>
      </p:sp>
      <p:pic>
        <p:nvPicPr>
          <p:cNvPr id="14" name="Image 0" descr="C:/Users/Hemendra/Projects/alight-vlookup-hlookup-deck/assets/alight_logo_yellow.png"/>
          <p:cNvPicPr>
            <a:picLocks noChangeAspect="1"/>
          </p:cNvPicPr>
          <p:nvPr/>
        </p:nvPicPr>
        <p:blipFill>
          <a:blip r:embed="rId3"/>
          <a:stretch>
            <a:fillRect/>
          </a:stretch>
        </p:blipFill>
        <p:spPr>
          <a:xfrm>
            <a:off x="566928" y="603504"/>
            <a:ext cx="1207008" cy="448056"/>
          </a:xfrm>
          <a:prstGeom prst="rect">
            <a:avLst/>
          </a:prstGeom>
        </p:spPr>
      </p:pic>
      <p:sp>
        <p:nvSpPr>
          <p:cNvPr id="15" name="Text 12"/>
          <p:cNvSpPr/>
          <p:nvPr/>
        </p:nvSpPr>
        <p:spPr>
          <a:xfrm>
            <a:off x="566928" y="2157984"/>
            <a:ext cx="6949440" cy="256032"/>
          </a:xfrm>
          <a:prstGeom prst="rect">
            <a:avLst/>
          </a:prstGeom>
          <a:noFill/>
          <a:ln/>
        </p:spPr>
        <p:txBody>
          <a:bodyPr wrap="square" lIns="0" tIns="0" rIns="0" bIns="0" rtlCol="0" anchor="ctr"/>
          <a:lstStyle/>
          <a:p>
            <a:pPr marL="0" indent="0">
              <a:buNone/>
            </a:pPr>
            <a:r>
              <a:rPr lang="en-US" sz="1250" b="1" kern="0" spc="180" dirty="0">
                <a:solidFill>
                  <a:srgbClr val="FFF200"/>
                </a:solidFill>
                <a:latin typeface="Arial" pitchFamily="34" charset="0"/>
                <a:ea typeface="Arial" pitchFamily="34" charset="-122"/>
                <a:cs typeface="Arial" pitchFamily="34" charset="-120"/>
              </a:rPr>
              <a:t>MICROSOFT EXCEL  ·  LOOKUP FUNCTIONS</a:t>
            </a:r>
            <a:endParaRPr lang="en-US" sz="1250" dirty="0"/>
          </a:p>
        </p:txBody>
      </p:sp>
      <p:sp>
        <p:nvSpPr>
          <p:cNvPr id="16" name="Text 13"/>
          <p:cNvSpPr/>
          <p:nvPr/>
        </p:nvSpPr>
        <p:spPr>
          <a:xfrm>
            <a:off x="530352" y="2450592"/>
            <a:ext cx="7406640" cy="91440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VLOOKUP &amp; </a:t>
            </a:r>
            <a:r>
              <a:rPr lang="en-US" sz="4600" b="1" dirty="0">
                <a:solidFill>
                  <a:srgbClr val="FFF200"/>
                </a:solidFill>
                <a:latin typeface="Arial" pitchFamily="34" charset="0"/>
                <a:ea typeface="Arial" pitchFamily="34" charset="-122"/>
                <a:cs typeface="Arial" pitchFamily="34" charset="-120"/>
              </a:rPr>
              <a:t>HLOOKUP</a:t>
            </a:r>
            <a:endParaRPr lang="en-US" sz="4600" dirty="0"/>
          </a:p>
        </p:txBody>
      </p:sp>
      <p:sp>
        <p:nvSpPr>
          <p:cNvPr id="17" name="Text 14"/>
          <p:cNvSpPr/>
          <p:nvPr/>
        </p:nvSpPr>
        <p:spPr>
          <a:xfrm>
            <a:off x="566928" y="3419856"/>
            <a:ext cx="6858000" cy="731520"/>
          </a:xfrm>
          <a:prstGeom prst="rect">
            <a:avLst/>
          </a:prstGeom>
          <a:noFill/>
          <a:ln/>
        </p:spPr>
        <p:txBody>
          <a:bodyPr wrap="square" lIns="0" tIns="0" rIns="0" bIns="0" rtlCol="0" anchor="ctr"/>
          <a:lstStyle/>
          <a:p>
            <a:pPr marL="0" indent="0">
              <a:lnSpc>
                <a:spcPct val="115000"/>
              </a:lnSpc>
              <a:buNone/>
            </a:pPr>
            <a:r>
              <a:rPr lang="en-US" sz="1550" dirty="0">
                <a:solidFill>
                  <a:srgbClr val="B4C0C5"/>
                </a:solidFill>
                <a:latin typeface="Arial" pitchFamily="34" charset="0"/>
                <a:ea typeface="Arial" pitchFamily="34" charset="-122"/>
                <a:cs typeface="Arial" pitchFamily="34" charset="-120"/>
              </a:rPr>
              <a:t>Find a value in your data, and bring back what belongs with it. Two Excel functions, explained step by step with annotated screenshots.</a:t>
            </a:r>
            <a:endParaRPr lang="en-US" sz="1550" dirty="0"/>
          </a:p>
        </p:txBody>
      </p:sp>
      <p:sp>
        <p:nvSpPr>
          <p:cNvPr id="18" name="Shape 15"/>
          <p:cNvSpPr/>
          <p:nvPr/>
        </p:nvSpPr>
        <p:spPr>
          <a:xfrm>
            <a:off x="566928" y="4718304"/>
            <a:ext cx="5897880" cy="1024128"/>
          </a:xfrm>
          <a:prstGeom prst="roundRect">
            <a:avLst>
              <a:gd name="adj" fmla="val 12500"/>
            </a:avLst>
          </a:prstGeom>
          <a:solidFill>
            <a:srgbClr val="122A34"/>
          </a:solidFill>
          <a:ln w="12700">
            <a:solidFill>
              <a:srgbClr val="2F4149"/>
            </a:solidFill>
            <a:prstDash val="solid"/>
          </a:ln>
        </p:spPr>
      </p:sp>
      <p:sp>
        <p:nvSpPr>
          <p:cNvPr id="19" name="Text 16"/>
          <p:cNvSpPr/>
          <p:nvPr/>
        </p:nvSpPr>
        <p:spPr>
          <a:xfrm>
            <a:off x="841248" y="4846320"/>
            <a:ext cx="2743200" cy="786384"/>
          </a:xfrm>
          <a:prstGeom prst="rect">
            <a:avLst/>
          </a:prstGeom>
          <a:noFill/>
          <a:ln/>
        </p:spPr>
        <p:txBody>
          <a:bodyPr wrap="square" lIns="0" tIns="0" rIns="0" bIns="0" rtlCol="0" anchor="ctr"/>
          <a:lstStyle/>
          <a:p>
            <a:pPr marL="0" indent="0">
              <a:lnSpc>
                <a:spcPct val="105000"/>
              </a:lnSpc>
              <a:buNone/>
            </a:pPr>
            <a:r>
              <a:rPr lang="en-US" sz="1150" dirty="0">
                <a:solidFill>
                  <a:srgbClr val="9FB0B6"/>
                </a:solidFill>
                <a:latin typeface="Arial" pitchFamily="34" charset="0"/>
                <a:ea typeface="Arial" pitchFamily="34" charset="-122"/>
                <a:cs typeface="Arial" pitchFamily="34" charset="-120"/>
              </a:rPr>
              <a:t>Prepared for
</a:t>
            </a:r>
            <a:r>
              <a:rPr lang="en-US" sz="1500" b="1" dirty="0">
                <a:solidFill>
                  <a:srgbClr val="FFFFFF"/>
                </a:solidFill>
                <a:latin typeface="Arial" pitchFamily="34" charset="0"/>
                <a:ea typeface="Arial" pitchFamily="34" charset="-122"/>
                <a:cs typeface="Arial" pitchFamily="34" charset="-120"/>
              </a:rPr>
              <a:t>Backend Processing Team</a:t>
            </a:r>
            <a:endParaRPr lang="en-US" sz="1150" dirty="0"/>
          </a:p>
        </p:txBody>
      </p:sp>
      <p:sp>
        <p:nvSpPr>
          <p:cNvPr id="20" name="Text 17"/>
          <p:cNvSpPr/>
          <p:nvPr/>
        </p:nvSpPr>
        <p:spPr>
          <a:xfrm>
            <a:off x="3813048" y="4846320"/>
            <a:ext cx="2468880" cy="786384"/>
          </a:xfrm>
          <a:prstGeom prst="rect">
            <a:avLst/>
          </a:prstGeom>
          <a:noFill/>
          <a:ln/>
        </p:spPr>
        <p:txBody>
          <a:bodyPr wrap="square" lIns="0" tIns="0" rIns="0" bIns="0" rtlCol="0" anchor="ctr"/>
          <a:lstStyle/>
          <a:p>
            <a:pPr marL="0" indent="0">
              <a:lnSpc>
                <a:spcPct val="105000"/>
              </a:lnSpc>
              <a:buNone/>
            </a:pPr>
            <a:r>
              <a:rPr lang="en-US" sz="1150" dirty="0">
                <a:solidFill>
                  <a:srgbClr val="9FB0B6"/>
                </a:solidFill>
                <a:latin typeface="Arial" pitchFamily="34" charset="0"/>
                <a:ea typeface="Arial" pitchFamily="34" charset="-122"/>
                <a:cs typeface="Arial" pitchFamily="34" charset="-120"/>
              </a:rPr>
              <a:t>Presenter
</a:t>
            </a:r>
            <a:r>
              <a:rPr lang="en-US" sz="1500" b="1" dirty="0">
                <a:solidFill>
                  <a:srgbClr val="FFF200"/>
                </a:solidFill>
                <a:latin typeface="Arial" pitchFamily="34" charset="0"/>
                <a:ea typeface="Arial" pitchFamily="34" charset="-122"/>
                <a:cs typeface="Arial" pitchFamily="34" charset="-120"/>
              </a:rPr>
              <a:t>SUBHRA SINGH</a:t>
            </a:r>
            <a:endParaRPr lang="en-US" sz="1150" dirty="0"/>
          </a:p>
        </p:txBody>
      </p:sp>
      <p:sp>
        <p:nvSpPr>
          <p:cNvPr id="21" name="Text 18"/>
          <p:cNvSpPr/>
          <p:nvPr/>
        </p:nvSpPr>
        <p:spPr>
          <a:xfrm>
            <a:off x="566928" y="5961888"/>
            <a:ext cx="3657600" cy="237744"/>
          </a:xfrm>
          <a:prstGeom prst="rect">
            <a:avLst/>
          </a:prstGeom>
          <a:noFill/>
          <a:ln/>
        </p:spPr>
        <p:txBody>
          <a:bodyPr wrap="square" lIns="0" tIns="0" rIns="0" bIns="0" rtlCol="0" anchor="ctr"/>
          <a:lstStyle/>
          <a:p>
            <a:pPr marL="0" indent="0">
              <a:buNone/>
            </a:pPr>
            <a:r>
              <a:rPr lang="en-US" sz="1100" dirty="0">
                <a:solidFill>
                  <a:srgbClr val="7F8D93"/>
                </a:solidFill>
                <a:latin typeface="Arial" pitchFamily="34" charset="0"/>
                <a:ea typeface="Arial" pitchFamily="34" charset="-122"/>
                <a:cs typeface="Arial" pitchFamily="34" charset="-120"/>
              </a:rPr>
              <a:t>September 2026</a:t>
            </a:r>
            <a:endParaRPr lang="en-US" sz="1100" dirty="0"/>
          </a:p>
        </p:txBody>
      </p:sp>
      <p:sp>
        <p:nvSpPr>
          <p:cNvPr id="22" name="Text 19"/>
          <p:cNvSpPr/>
          <p:nvPr/>
        </p:nvSpPr>
        <p:spPr>
          <a:xfrm>
            <a:off x="5952744" y="5961888"/>
            <a:ext cx="5669280" cy="237744"/>
          </a:xfrm>
          <a:prstGeom prst="rect">
            <a:avLst/>
          </a:prstGeom>
          <a:noFill/>
          <a:ln/>
        </p:spPr>
        <p:txBody>
          <a:bodyPr wrap="square" lIns="0" tIns="0" rIns="0" bIns="0" rtlCol="0" anchor="ctr"/>
          <a:lstStyle/>
          <a:p>
            <a:pPr marL="0" indent="0" algn="r">
              <a:buNone/>
            </a:pPr>
            <a:r>
              <a:rPr lang="en-US" sz="950" dirty="0">
                <a:solidFill>
                  <a:srgbClr val="5F6D74"/>
                </a:solidFill>
                <a:latin typeface="Arial" pitchFamily="34" charset="0"/>
                <a:ea typeface="Arial" pitchFamily="34" charset="-122"/>
                <a:cs typeface="Arial" pitchFamily="34" charset="-120"/>
              </a:rPr>
              <a:t>Source tutorial: “VLOOKUP vs HLOOKUP Excel Functions, Simplified in 5 mins!”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2F2"/>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Text 0"/>
          <p:cNvSpPr/>
          <p:nvPr/>
        </p:nvSpPr>
        <p:spPr>
          <a:xfrm>
            <a:off x="566928" y="420624"/>
            <a:ext cx="986637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THE BIG IDEA</a:t>
            </a:r>
            <a:endParaRPr lang="en-US" sz="1150" dirty="0"/>
          </a:p>
        </p:txBody>
      </p:sp>
      <p:sp>
        <p:nvSpPr>
          <p:cNvPr id="4" name="Text 1"/>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Same question, two directions</a:t>
            </a:r>
            <a:endParaRPr lang="en-US" sz="2800" dirty="0"/>
          </a:p>
        </p:txBody>
      </p:sp>
      <p:sp>
        <p:nvSpPr>
          <p:cNvPr id="5" name="Text 2"/>
          <p:cNvSpPr/>
          <p:nvPr/>
        </p:nvSpPr>
        <p:spPr>
          <a:xfrm>
            <a:off x="566928" y="1316736"/>
            <a:ext cx="9866376" cy="457200"/>
          </a:xfrm>
          <a:prstGeom prst="rect">
            <a:avLst/>
          </a:prstGeom>
          <a:noFill/>
          <a:ln/>
        </p:spPr>
        <p:txBody>
          <a:bodyPr wrap="square" lIns="0" tIns="0" rIns="0" bIns="0" rtlCol="0" anchor="t"/>
          <a:lstStyle/>
          <a:p>
            <a:pPr marL="0" indent="0">
              <a:lnSpc>
                <a:spcPct val="105000"/>
              </a:lnSpc>
              <a:buNone/>
            </a:pPr>
            <a:r>
              <a:rPr lang="en-US" sz="1450" dirty="0">
                <a:solidFill>
                  <a:srgbClr val="2F4149"/>
                </a:solidFill>
                <a:latin typeface="Arial" pitchFamily="34" charset="0"/>
                <a:ea typeface="Arial" pitchFamily="34" charset="-122"/>
                <a:cs typeface="Arial" pitchFamily="34" charset="-120"/>
              </a:rPr>
              <a:t>A lookup answers one thing: “find this value, and bring back what belongs to it.” The only real difference between the two functions is the direction Excel travels.</a:t>
            </a:r>
            <a:endParaRPr lang="en-US" sz="1450" dirty="0"/>
          </a:p>
        </p:txBody>
      </p:sp>
      <p:pic>
        <p:nvPicPr>
          <p:cNvPr id="6" name="Image 1" descr="C:/Users/Hemendra/Projects/alight-vlookup-hlookup-deck/assets/s_direction.png"/>
          <p:cNvPicPr>
            <a:picLocks noChangeAspect="1"/>
          </p:cNvPicPr>
          <p:nvPr/>
        </p:nvPicPr>
        <p:blipFill>
          <a:blip r:embed="rId4"/>
          <a:stretch>
            <a:fillRect/>
          </a:stretch>
        </p:blipFill>
        <p:spPr>
          <a:xfrm>
            <a:off x="566928" y="1847088"/>
            <a:ext cx="11055096" cy="4403301"/>
          </a:xfrm>
          <a:prstGeom prst="rect">
            <a:avLst/>
          </a:prstGeom>
        </p:spPr>
      </p:pic>
      <p:sp>
        <p:nvSpPr>
          <p:cNvPr id="7" name="Text 3"/>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8" name="Text 4"/>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Shape 0"/>
          <p:cNvSpPr/>
          <p:nvPr/>
        </p:nvSpPr>
        <p:spPr>
          <a:xfrm>
            <a:off x="566928" y="402336"/>
            <a:ext cx="292608" cy="292608"/>
          </a:xfrm>
          <a:prstGeom prst="ellipse">
            <a:avLst/>
          </a:prstGeom>
          <a:solidFill>
            <a:srgbClr val="FFF200"/>
          </a:solidFill>
          <a:ln w="12700">
            <a:solidFill>
              <a:srgbClr val="FFF200"/>
            </a:solidFill>
            <a:prstDash val="solid"/>
          </a:ln>
        </p:spPr>
      </p:sp>
      <p:sp>
        <p:nvSpPr>
          <p:cNvPr id="4" name="Text 1"/>
          <p:cNvSpPr/>
          <p:nvPr/>
        </p:nvSpPr>
        <p:spPr>
          <a:xfrm>
            <a:off x="566928" y="402336"/>
            <a:ext cx="292608" cy="292608"/>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0</a:t>
            </a:r>
            <a:endParaRPr lang="en-US" sz="1200" dirty="0"/>
          </a:p>
        </p:txBody>
      </p:sp>
      <p:sp>
        <p:nvSpPr>
          <p:cNvPr id="5" name="Text 2"/>
          <p:cNvSpPr/>
          <p:nvPr/>
        </p:nvSpPr>
        <p:spPr>
          <a:xfrm>
            <a:off x="969264" y="420624"/>
            <a:ext cx="977493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STEP 0 · BEFORE YOU START</a:t>
            </a:r>
            <a:endParaRPr lang="en-US" sz="1150" dirty="0"/>
          </a:p>
        </p:txBody>
      </p:sp>
      <p:sp>
        <p:nvSpPr>
          <p:cNvPr id="6" name="Text 3"/>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Get the table right first</a:t>
            </a:r>
            <a:endParaRPr lang="en-US" sz="2800" dirty="0"/>
          </a:p>
        </p:txBody>
      </p:sp>
      <p:sp>
        <p:nvSpPr>
          <p:cNvPr id="7" name="Text 4"/>
          <p:cNvSpPr/>
          <p:nvPr/>
        </p:nvSpPr>
        <p:spPr>
          <a:xfrm>
            <a:off x="566928" y="1243584"/>
            <a:ext cx="3931920" cy="457200"/>
          </a:xfrm>
          <a:prstGeom prst="rect">
            <a:avLst/>
          </a:prstGeom>
          <a:noFill/>
          <a:ln/>
        </p:spPr>
        <p:txBody>
          <a:bodyPr wrap="square" lIns="0" tIns="0" rIns="0" bIns="0" rtlCol="0" anchor="t"/>
          <a:lstStyle/>
          <a:p>
            <a:pPr marL="0" indent="0">
              <a:lnSpc>
                <a:spcPct val="105000"/>
              </a:lnSpc>
              <a:buNone/>
            </a:pPr>
            <a:r>
              <a:rPr lang="en-US" sz="1450" dirty="0">
                <a:solidFill>
                  <a:srgbClr val="2F4149"/>
                </a:solidFill>
                <a:latin typeface="Arial" pitchFamily="34" charset="0"/>
                <a:ea typeface="Arial" pitchFamily="34" charset="-122"/>
                <a:cs typeface="Arial" pitchFamily="34" charset="-120"/>
              </a:rPr>
              <a:t>Excel can only look things up if your data is laid out the way it expects.</a:t>
            </a:r>
            <a:endParaRPr lang="en-US" sz="1450" dirty="0"/>
          </a:p>
        </p:txBody>
      </p:sp>
      <p:sp>
        <p:nvSpPr>
          <p:cNvPr id="8" name="Shape 5"/>
          <p:cNvSpPr/>
          <p:nvPr/>
        </p:nvSpPr>
        <p:spPr>
          <a:xfrm>
            <a:off x="566928" y="1810512"/>
            <a:ext cx="256032" cy="256032"/>
          </a:xfrm>
          <a:prstGeom prst="ellipse">
            <a:avLst/>
          </a:prstGeom>
          <a:solidFill>
            <a:srgbClr val="FFF200"/>
          </a:solidFill>
          <a:ln w="12700">
            <a:solidFill>
              <a:srgbClr val="FFF200"/>
            </a:solidFill>
            <a:prstDash val="solid"/>
          </a:ln>
        </p:spPr>
      </p:sp>
      <p:sp>
        <p:nvSpPr>
          <p:cNvPr id="9" name="Text 6"/>
          <p:cNvSpPr/>
          <p:nvPr/>
        </p:nvSpPr>
        <p:spPr>
          <a:xfrm>
            <a:off x="566928" y="1810512"/>
            <a:ext cx="256032" cy="256032"/>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1</a:t>
            </a:r>
            <a:endParaRPr lang="en-US" sz="1200" dirty="0"/>
          </a:p>
        </p:txBody>
      </p:sp>
      <p:sp>
        <p:nvSpPr>
          <p:cNvPr id="10" name="Text 7"/>
          <p:cNvSpPr/>
          <p:nvPr/>
        </p:nvSpPr>
        <p:spPr>
          <a:xfrm>
            <a:off x="950976" y="1783080"/>
            <a:ext cx="3611880" cy="256032"/>
          </a:xfrm>
          <a:prstGeom prst="rect">
            <a:avLst/>
          </a:prstGeom>
          <a:noFill/>
          <a:ln/>
        </p:spPr>
        <p:txBody>
          <a:bodyPr wrap="square" lIns="0" tIns="0" rIns="0" bIns="0" rtlCol="0" anchor="ctr"/>
          <a:lstStyle/>
          <a:p>
            <a:pPr marL="0" indent="0">
              <a:buNone/>
            </a:pPr>
            <a:r>
              <a:rPr lang="en-US" sz="1400" b="1" dirty="0">
                <a:solidFill>
                  <a:srgbClr val="0A2029"/>
                </a:solidFill>
                <a:latin typeface="Arial" pitchFamily="34" charset="0"/>
                <a:ea typeface="Arial" pitchFamily="34" charset="-122"/>
                <a:cs typeface="Arial" pitchFamily="34" charset="-120"/>
              </a:rPr>
              <a:t>A matching column on the left</a:t>
            </a:r>
            <a:endParaRPr lang="en-US" sz="1400" dirty="0"/>
          </a:p>
        </p:txBody>
      </p:sp>
      <p:sp>
        <p:nvSpPr>
          <p:cNvPr id="11" name="Text 8"/>
          <p:cNvSpPr/>
          <p:nvPr/>
        </p:nvSpPr>
        <p:spPr>
          <a:xfrm>
            <a:off x="950976" y="2057400"/>
            <a:ext cx="3611880" cy="658368"/>
          </a:xfrm>
          <a:prstGeom prst="rect">
            <a:avLst/>
          </a:prstGeom>
          <a:noFill/>
          <a:ln/>
        </p:spPr>
        <p:txBody>
          <a:bodyPr wrap="square" lIns="0" tIns="0" rIns="0" bIns="0" rtlCol="0" anchor="t"/>
          <a:lstStyle/>
          <a:p>
            <a:pPr marL="0" indent="0">
              <a:lnSpc>
                <a:spcPct val="105000"/>
              </a:lnSpc>
              <a:buNone/>
            </a:pPr>
            <a:r>
              <a:rPr lang="en-US" sz="1200" dirty="0">
                <a:solidFill>
                  <a:srgbClr val="2F4149"/>
                </a:solidFill>
                <a:latin typeface="Arial" pitchFamily="34" charset="0"/>
                <a:ea typeface="Arial" pitchFamily="34" charset="-122"/>
                <a:cs typeface="Arial" pitchFamily="34" charset="-120"/>
              </a:rPr>
              <a:t>This is the piece of information you already know (here: Emp ID). Excel only ever searches this first column.</a:t>
            </a:r>
            <a:endParaRPr lang="en-US" sz="1200" dirty="0"/>
          </a:p>
        </p:txBody>
      </p:sp>
      <p:sp>
        <p:nvSpPr>
          <p:cNvPr id="12" name="Shape 9"/>
          <p:cNvSpPr/>
          <p:nvPr/>
        </p:nvSpPr>
        <p:spPr>
          <a:xfrm>
            <a:off x="566928" y="2798064"/>
            <a:ext cx="256032" cy="256032"/>
          </a:xfrm>
          <a:prstGeom prst="ellipse">
            <a:avLst/>
          </a:prstGeom>
          <a:solidFill>
            <a:srgbClr val="FFF200"/>
          </a:solidFill>
          <a:ln w="12700">
            <a:solidFill>
              <a:srgbClr val="FFF200"/>
            </a:solidFill>
            <a:prstDash val="solid"/>
          </a:ln>
        </p:spPr>
      </p:sp>
      <p:sp>
        <p:nvSpPr>
          <p:cNvPr id="13" name="Text 10"/>
          <p:cNvSpPr/>
          <p:nvPr/>
        </p:nvSpPr>
        <p:spPr>
          <a:xfrm>
            <a:off x="566928" y="2798064"/>
            <a:ext cx="256032" cy="256032"/>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2</a:t>
            </a:r>
            <a:endParaRPr lang="en-US" sz="1200" dirty="0"/>
          </a:p>
        </p:txBody>
      </p:sp>
      <p:sp>
        <p:nvSpPr>
          <p:cNvPr id="14" name="Text 11"/>
          <p:cNvSpPr/>
          <p:nvPr/>
        </p:nvSpPr>
        <p:spPr>
          <a:xfrm>
            <a:off x="950976" y="2770632"/>
            <a:ext cx="3611880" cy="256032"/>
          </a:xfrm>
          <a:prstGeom prst="rect">
            <a:avLst/>
          </a:prstGeom>
          <a:noFill/>
          <a:ln/>
        </p:spPr>
        <p:txBody>
          <a:bodyPr wrap="square" lIns="0" tIns="0" rIns="0" bIns="0" rtlCol="0" anchor="ctr"/>
          <a:lstStyle/>
          <a:p>
            <a:pPr marL="0" indent="0">
              <a:buNone/>
            </a:pPr>
            <a:r>
              <a:rPr lang="en-US" sz="1400" b="1" dirty="0">
                <a:solidFill>
                  <a:srgbClr val="0A2029"/>
                </a:solidFill>
                <a:latin typeface="Arial" pitchFamily="34" charset="0"/>
                <a:ea typeface="Arial" pitchFamily="34" charset="-122"/>
                <a:cs typeface="Arial" pitchFamily="34" charset="-120"/>
              </a:rPr>
              <a:t>The answer columns to its right</a:t>
            </a:r>
            <a:endParaRPr lang="en-US" sz="1400" dirty="0"/>
          </a:p>
        </p:txBody>
      </p:sp>
      <p:sp>
        <p:nvSpPr>
          <p:cNvPr id="15" name="Text 12"/>
          <p:cNvSpPr/>
          <p:nvPr/>
        </p:nvSpPr>
        <p:spPr>
          <a:xfrm>
            <a:off x="950976" y="3044952"/>
            <a:ext cx="3611880" cy="658368"/>
          </a:xfrm>
          <a:prstGeom prst="rect">
            <a:avLst/>
          </a:prstGeom>
          <a:noFill/>
          <a:ln/>
        </p:spPr>
        <p:txBody>
          <a:bodyPr wrap="square" lIns="0" tIns="0" rIns="0" bIns="0" rtlCol="0" anchor="t"/>
          <a:lstStyle/>
          <a:p>
            <a:pPr marL="0" indent="0">
              <a:lnSpc>
                <a:spcPct val="105000"/>
              </a:lnSpc>
              <a:buNone/>
            </a:pPr>
            <a:r>
              <a:rPr lang="en-US" sz="1200" dirty="0">
                <a:solidFill>
                  <a:srgbClr val="2F4149"/>
                </a:solidFill>
                <a:latin typeface="Arial" pitchFamily="34" charset="0"/>
                <a:ea typeface="Arial" pitchFamily="34" charset="-122"/>
                <a:cs typeface="Arial" pitchFamily="34" charset="-120"/>
              </a:rPr>
              <a:t>Name, Department, Salary. These are what the formula brings back.</a:t>
            </a:r>
            <a:endParaRPr lang="en-US" sz="1200" dirty="0"/>
          </a:p>
        </p:txBody>
      </p:sp>
      <p:sp>
        <p:nvSpPr>
          <p:cNvPr id="16" name="Shape 13"/>
          <p:cNvSpPr/>
          <p:nvPr/>
        </p:nvSpPr>
        <p:spPr>
          <a:xfrm>
            <a:off x="566928" y="3785616"/>
            <a:ext cx="256032" cy="256032"/>
          </a:xfrm>
          <a:prstGeom prst="ellipse">
            <a:avLst/>
          </a:prstGeom>
          <a:solidFill>
            <a:srgbClr val="FFF200"/>
          </a:solidFill>
          <a:ln w="12700">
            <a:solidFill>
              <a:srgbClr val="FFF200"/>
            </a:solidFill>
            <a:prstDash val="solid"/>
          </a:ln>
        </p:spPr>
      </p:sp>
      <p:sp>
        <p:nvSpPr>
          <p:cNvPr id="17" name="Text 14"/>
          <p:cNvSpPr/>
          <p:nvPr/>
        </p:nvSpPr>
        <p:spPr>
          <a:xfrm>
            <a:off x="566928" y="3785616"/>
            <a:ext cx="256032" cy="256032"/>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3</a:t>
            </a:r>
            <a:endParaRPr lang="en-US" sz="1200" dirty="0"/>
          </a:p>
        </p:txBody>
      </p:sp>
      <p:sp>
        <p:nvSpPr>
          <p:cNvPr id="18" name="Text 15"/>
          <p:cNvSpPr/>
          <p:nvPr/>
        </p:nvSpPr>
        <p:spPr>
          <a:xfrm>
            <a:off x="950976" y="3758184"/>
            <a:ext cx="3611880" cy="256032"/>
          </a:xfrm>
          <a:prstGeom prst="rect">
            <a:avLst/>
          </a:prstGeom>
          <a:noFill/>
          <a:ln/>
        </p:spPr>
        <p:txBody>
          <a:bodyPr wrap="square" lIns="0" tIns="0" rIns="0" bIns="0" rtlCol="0" anchor="ctr"/>
          <a:lstStyle/>
          <a:p>
            <a:pPr marL="0" indent="0">
              <a:buNone/>
            </a:pPr>
            <a:r>
              <a:rPr lang="en-US" sz="1400" b="1" dirty="0">
                <a:solidFill>
                  <a:srgbClr val="0A2029"/>
                </a:solidFill>
                <a:latin typeface="Arial" pitchFamily="34" charset="0"/>
                <a:ea typeface="Arial" pitchFamily="34" charset="-122"/>
                <a:cs typeface="Arial" pitchFamily="34" charset="-120"/>
              </a:rPr>
              <a:t>One header row</a:t>
            </a:r>
            <a:endParaRPr lang="en-US" sz="1400" dirty="0"/>
          </a:p>
        </p:txBody>
      </p:sp>
      <p:sp>
        <p:nvSpPr>
          <p:cNvPr id="19" name="Text 16"/>
          <p:cNvSpPr/>
          <p:nvPr/>
        </p:nvSpPr>
        <p:spPr>
          <a:xfrm>
            <a:off x="950976" y="4032504"/>
            <a:ext cx="3611880" cy="658368"/>
          </a:xfrm>
          <a:prstGeom prst="rect">
            <a:avLst/>
          </a:prstGeom>
          <a:noFill/>
          <a:ln/>
        </p:spPr>
        <p:txBody>
          <a:bodyPr wrap="square" lIns="0" tIns="0" rIns="0" bIns="0" rtlCol="0" anchor="t"/>
          <a:lstStyle/>
          <a:p>
            <a:pPr marL="0" indent="0">
              <a:lnSpc>
                <a:spcPct val="105000"/>
              </a:lnSpc>
              <a:buNone/>
            </a:pPr>
            <a:r>
              <a:rPr lang="en-US" sz="1200" dirty="0">
                <a:solidFill>
                  <a:srgbClr val="2F4149"/>
                </a:solidFill>
                <a:latin typeface="Arial" pitchFamily="34" charset="0"/>
                <a:ea typeface="Arial" pitchFamily="34" charset="-122"/>
                <a:cs typeface="Arial" pitchFamily="34" charset="-120"/>
              </a:rPr>
              <a:t>Clear headers make the formula easy to read and easy to re-use.</a:t>
            </a:r>
            <a:endParaRPr lang="en-US" sz="1200" dirty="0"/>
          </a:p>
        </p:txBody>
      </p:sp>
      <p:sp>
        <p:nvSpPr>
          <p:cNvPr id="20" name="Text 17"/>
          <p:cNvSpPr/>
          <p:nvPr/>
        </p:nvSpPr>
        <p:spPr>
          <a:xfrm>
            <a:off x="566928" y="4791456"/>
            <a:ext cx="3995928" cy="804672"/>
          </a:xfrm>
          <a:prstGeom prst="rect">
            <a:avLst/>
          </a:prstGeom>
          <a:solidFill>
            <a:srgbClr val="FFF200"/>
          </a:solidFill>
          <a:ln/>
        </p:spPr>
        <p:txBody>
          <a:bodyPr wrap="square" lIns="0" tIns="0" rIns="0" bIns="0" rtlCol="0" anchor="t"/>
          <a:lstStyle/>
          <a:p>
            <a:pPr marL="0" indent="0">
              <a:lnSpc>
                <a:spcPct val="106000"/>
              </a:lnSpc>
              <a:buNone/>
            </a:pPr>
            <a:r>
              <a:rPr lang="en-US" sz="1150" b="1" dirty="0">
                <a:solidFill>
                  <a:srgbClr val="0A2029"/>
                </a:solidFill>
                <a:latin typeface="Arial" pitchFamily="34" charset="0"/>
                <a:ea typeface="Arial" pitchFamily="34" charset="-122"/>
                <a:cs typeface="Arial" pitchFamily="34" charset="-120"/>
              </a:rPr>
              <a:t>The column numbers in the formula (1 2 3 4) are counted from the FIRST column of the table, not from column A.</a:t>
            </a:r>
            <a:endParaRPr lang="en-US" sz="1150" dirty="0"/>
          </a:p>
        </p:txBody>
      </p:sp>
      <p:pic>
        <p:nvPicPr>
          <p:cNvPr id="21" name="Image 1" descr="C:/Users/Hemendra/Projects/alight-vlookup-hlookup-deck/assets/a_data.png"/>
          <p:cNvPicPr>
            <a:picLocks noChangeAspect="1"/>
          </p:cNvPicPr>
          <p:nvPr/>
        </p:nvPicPr>
        <p:blipFill>
          <a:blip r:embed="rId4"/>
          <a:stretch>
            <a:fillRect/>
          </a:stretch>
        </p:blipFill>
        <p:spPr>
          <a:xfrm>
            <a:off x="4846320" y="1188720"/>
            <a:ext cx="6775704" cy="4910427"/>
          </a:xfrm>
          <a:prstGeom prst="rect">
            <a:avLst/>
          </a:prstGeom>
        </p:spPr>
      </p:pic>
      <p:sp>
        <p:nvSpPr>
          <p:cNvPr id="22" name="Text 18"/>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23" name="Text 19"/>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Shape 0"/>
          <p:cNvSpPr/>
          <p:nvPr/>
        </p:nvSpPr>
        <p:spPr>
          <a:xfrm>
            <a:off x="566928" y="402336"/>
            <a:ext cx="292608" cy="292608"/>
          </a:xfrm>
          <a:prstGeom prst="ellipse">
            <a:avLst/>
          </a:prstGeom>
          <a:solidFill>
            <a:srgbClr val="FFF200"/>
          </a:solidFill>
          <a:ln w="12700">
            <a:solidFill>
              <a:srgbClr val="FFF200"/>
            </a:solidFill>
            <a:prstDash val="solid"/>
          </a:ln>
        </p:spPr>
      </p:sp>
      <p:sp>
        <p:nvSpPr>
          <p:cNvPr id="4" name="Text 1"/>
          <p:cNvSpPr/>
          <p:nvPr/>
        </p:nvSpPr>
        <p:spPr>
          <a:xfrm>
            <a:off x="566928" y="402336"/>
            <a:ext cx="292608" cy="292608"/>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1</a:t>
            </a:r>
            <a:endParaRPr lang="en-US" sz="1200" dirty="0"/>
          </a:p>
        </p:txBody>
      </p:sp>
      <p:sp>
        <p:nvSpPr>
          <p:cNvPr id="5" name="Text 2"/>
          <p:cNvSpPr/>
          <p:nvPr/>
        </p:nvSpPr>
        <p:spPr>
          <a:xfrm>
            <a:off x="969264" y="420624"/>
            <a:ext cx="977493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VLOOKUP · PART 1</a:t>
            </a:r>
            <a:endParaRPr lang="en-US" sz="1150" dirty="0"/>
          </a:p>
        </p:txBody>
      </p:sp>
      <p:sp>
        <p:nvSpPr>
          <p:cNvPr id="6" name="Text 3"/>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Tell Excel what you are looking for</a:t>
            </a:r>
            <a:endParaRPr lang="en-US" sz="2800" dirty="0"/>
          </a:p>
        </p:txBody>
      </p:sp>
      <p:sp>
        <p:nvSpPr>
          <p:cNvPr id="7" name="Shape 4"/>
          <p:cNvSpPr/>
          <p:nvPr/>
        </p:nvSpPr>
        <p:spPr>
          <a:xfrm>
            <a:off x="1697584" y="1316736"/>
            <a:ext cx="2862072" cy="384048"/>
          </a:xfrm>
          <a:prstGeom prst="roundRect">
            <a:avLst>
              <a:gd name="adj" fmla="val 50000"/>
            </a:avLst>
          </a:prstGeom>
          <a:solidFill>
            <a:srgbClr val="FFF200"/>
          </a:solidFill>
          <a:ln w="12700">
            <a:solidFill>
              <a:srgbClr val="FFF200"/>
            </a:solidFill>
            <a:prstDash val="solid"/>
          </a:ln>
        </p:spPr>
      </p:sp>
      <p:sp>
        <p:nvSpPr>
          <p:cNvPr id="8" name="Text 5"/>
          <p:cNvSpPr/>
          <p:nvPr/>
        </p:nvSpPr>
        <p:spPr>
          <a:xfrm>
            <a:off x="1697584" y="1316736"/>
            <a:ext cx="2862072" cy="384048"/>
          </a:xfrm>
          <a:prstGeom prst="rect">
            <a:avLst/>
          </a:prstGeom>
          <a:noFill/>
          <a:ln/>
        </p:spPr>
        <p:txBody>
          <a:bodyPr wrap="square" lIns="0" tIns="0" rIns="0" bIns="0" rtlCol="0" anchor="ctr"/>
          <a:lstStyle/>
          <a:p>
            <a:pPr marL="0" indent="0" algn="ctr">
              <a:buNone/>
            </a:pPr>
            <a:r>
              <a:rPr lang="en-US" sz="1250" b="1" dirty="0">
                <a:solidFill>
                  <a:srgbClr val="0A2029"/>
                </a:solidFill>
                <a:latin typeface="Arial" pitchFamily="34" charset="0"/>
                <a:ea typeface="Arial" pitchFamily="34" charset="-122"/>
                <a:cs typeface="Arial" pitchFamily="34" charset="-120"/>
              </a:rPr>
              <a:t>① Type the ID you already know</a:t>
            </a:r>
            <a:endParaRPr lang="en-US" sz="1250" dirty="0"/>
          </a:p>
        </p:txBody>
      </p:sp>
      <p:sp>
        <p:nvSpPr>
          <p:cNvPr id="9" name="Shape 6"/>
          <p:cNvSpPr/>
          <p:nvPr/>
        </p:nvSpPr>
        <p:spPr>
          <a:xfrm>
            <a:off x="4705960" y="1316736"/>
            <a:ext cx="2862072" cy="384048"/>
          </a:xfrm>
          <a:prstGeom prst="roundRect">
            <a:avLst>
              <a:gd name="adj" fmla="val 50000"/>
            </a:avLst>
          </a:prstGeom>
          <a:solidFill>
            <a:srgbClr val="FFFFFF"/>
          </a:solidFill>
          <a:ln w="12700">
            <a:solidFill>
              <a:srgbClr val="DFE3E5"/>
            </a:solidFill>
            <a:prstDash val="solid"/>
          </a:ln>
        </p:spPr>
      </p:sp>
      <p:sp>
        <p:nvSpPr>
          <p:cNvPr id="10" name="Text 7"/>
          <p:cNvSpPr/>
          <p:nvPr/>
        </p:nvSpPr>
        <p:spPr>
          <a:xfrm>
            <a:off x="4705960" y="1316736"/>
            <a:ext cx="2862072" cy="384048"/>
          </a:xfrm>
          <a:prstGeom prst="rect">
            <a:avLst/>
          </a:prstGeom>
          <a:noFill/>
          <a:ln/>
        </p:spPr>
        <p:txBody>
          <a:bodyPr wrap="square" lIns="0" tIns="0" rIns="0" bIns="0" rtlCol="0" anchor="ctr"/>
          <a:lstStyle/>
          <a:p>
            <a:pPr marL="0" indent="0" algn="ctr">
              <a:buNone/>
            </a:pPr>
            <a:r>
              <a:rPr lang="en-US" sz="1250" b="1" dirty="0">
                <a:solidFill>
                  <a:srgbClr val="2F4149"/>
                </a:solidFill>
                <a:latin typeface="Arial" pitchFamily="34" charset="0"/>
                <a:ea typeface="Arial" pitchFamily="34" charset="-122"/>
                <a:cs typeface="Arial" pitchFamily="34" charset="-120"/>
              </a:rPr>
              <a:t>② Leave the answer cells empty</a:t>
            </a:r>
            <a:endParaRPr lang="en-US" sz="1250" dirty="0"/>
          </a:p>
        </p:txBody>
      </p:sp>
      <p:sp>
        <p:nvSpPr>
          <p:cNvPr id="11" name="Shape 8"/>
          <p:cNvSpPr/>
          <p:nvPr/>
        </p:nvSpPr>
        <p:spPr>
          <a:xfrm>
            <a:off x="7714336" y="1316736"/>
            <a:ext cx="2777033" cy="384048"/>
          </a:xfrm>
          <a:prstGeom prst="roundRect">
            <a:avLst>
              <a:gd name="adj" fmla="val 50000"/>
            </a:avLst>
          </a:prstGeom>
          <a:solidFill>
            <a:srgbClr val="FFFFFF"/>
          </a:solidFill>
          <a:ln w="12700">
            <a:solidFill>
              <a:srgbClr val="DFE3E5"/>
            </a:solidFill>
            <a:prstDash val="solid"/>
          </a:ln>
        </p:spPr>
      </p:sp>
      <p:sp>
        <p:nvSpPr>
          <p:cNvPr id="12" name="Text 9"/>
          <p:cNvSpPr/>
          <p:nvPr/>
        </p:nvSpPr>
        <p:spPr>
          <a:xfrm>
            <a:off x="7714336" y="1316736"/>
            <a:ext cx="2777033" cy="384048"/>
          </a:xfrm>
          <a:prstGeom prst="rect">
            <a:avLst/>
          </a:prstGeom>
          <a:noFill/>
          <a:ln/>
        </p:spPr>
        <p:txBody>
          <a:bodyPr wrap="square" lIns="0" tIns="0" rIns="0" bIns="0" rtlCol="0" anchor="ctr"/>
          <a:lstStyle/>
          <a:p>
            <a:pPr marL="0" indent="0" algn="ctr">
              <a:buNone/>
            </a:pPr>
            <a:r>
              <a:rPr lang="en-US" sz="1250" b="1" dirty="0">
                <a:solidFill>
                  <a:srgbClr val="2F4149"/>
                </a:solidFill>
                <a:latin typeface="Arial" pitchFamily="34" charset="0"/>
                <a:ea typeface="Arial" pitchFamily="34" charset="-122"/>
                <a:cs typeface="Arial" pitchFamily="34" charset="-120"/>
              </a:rPr>
              <a:t>③ Or pick it from a drop-down</a:t>
            </a:r>
            <a:endParaRPr lang="en-US" sz="1250" dirty="0"/>
          </a:p>
        </p:txBody>
      </p:sp>
      <p:pic>
        <p:nvPicPr>
          <p:cNvPr id="13" name="Image 1" descr="C:/Users/Hemendra/Projects/alight-vlookup-hlookup-deck/assets/b_input.png"/>
          <p:cNvPicPr>
            <a:picLocks noChangeAspect="1"/>
          </p:cNvPicPr>
          <p:nvPr/>
        </p:nvPicPr>
        <p:blipFill>
          <a:blip r:embed="rId4"/>
          <a:stretch>
            <a:fillRect/>
          </a:stretch>
        </p:blipFill>
        <p:spPr>
          <a:xfrm>
            <a:off x="1292155" y="1865376"/>
            <a:ext cx="9604641" cy="4462272"/>
          </a:xfrm>
          <a:prstGeom prst="rect">
            <a:avLst/>
          </a:prstGeom>
        </p:spPr>
      </p:pic>
      <p:sp>
        <p:nvSpPr>
          <p:cNvPr id="14" name="Text 10"/>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15" name="Text 11"/>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Shape 0"/>
          <p:cNvSpPr/>
          <p:nvPr/>
        </p:nvSpPr>
        <p:spPr>
          <a:xfrm>
            <a:off x="566928" y="402336"/>
            <a:ext cx="292608" cy="292608"/>
          </a:xfrm>
          <a:prstGeom prst="ellipse">
            <a:avLst/>
          </a:prstGeom>
          <a:solidFill>
            <a:srgbClr val="FFF200"/>
          </a:solidFill>
          <a:ln w="12700">
            <a:solidFill>
              <a:srgbClr val="FFF200"/>
            </a:solidFill>
            <a:prstDash val="solid"/>
          </a:ln>
        </p:spPr>
      </p:sp>
      <p:sp>
        <p:nvSpPr>
          <p:cNvPr id="4" name="Text 1"/>
          <p:cNvSpPr/>
          <p:nvPr/>
        </p:nvSpPr>
        <p:spPr>
          <a:xfrm>
            <a:off x="566928" y="402336"/>
            <a:ext cx="292608" cy="292608"/>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2</a:t>
            </a:r>
            <a:endParaRPr lang="en-US" sz="1200" dirty="0"/>
          </a:p>
        </p:txBody>
      </p:sp>
      <p:sp>
        <p:nvSpPr>
          <p:cNvPr id="5" name="Text 2"/>
          <p:cNvSpPr/>
          <p:nvPr/>
        </p:nvSpPr>
        <p:spPr>
          <a:xfrm>
            <a:off x="969264" y="420624"/>
            <a:ext cx="977493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VLOOKUP · PART 2</a:t>
            </a:r>
            <a:endParaRPr lang="en-US" sz="1150" dirty="0"/>
          </a:p>
        </p:txBody>
      </p:sp>
      <p:sp>
        <p:nvSpPr>
          <p:cNvPr id="6" name="Text 3"/>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Build the formula, one comma at a time</a:t>
            </a:r>
            <a:endParaRPr lang="en-US" sz="2800" dirty="0"/>
          </a:p>
        </p:txBody>
      </p:sp>
      <p:sp>
        <p:nvSpPr>
          <p:cNvPr id="7" name="Shape 4"/>
          <p:cNvSpPr/>
          <p:nvPr/>
        </p:nvSpPr>
        <p:spPr>
          <a:xfrm>
            <a:off x="3625596" y="1225296"/>
            <a:ext cx="4937760" cy="512064"/>
          </a:xfrm>
          <a:prstGeom prst="roundRect">
            <a:avLst>
              <a:gd name="adj" fmla="val 25000"/>
            </a:avLst>
          </a:prstGeom>
          <a:solidFill>
            <a:srgbClr val="0A2029"/>
          </a:solidFill>
          <a:ln w="12700">
            <a:solidFill>
              <a:srgbClr val="0A2029"/>
            </a:solidFill>
            <a:prstDash val="solid"/>
          </a:ln>
        </p:spPr>
      </p:sp>
      <p:sp>
        <p:nvSpPr>
          <p:cNvPr id="8" name="Text 5"/>
          <p:cNvSpPr/>
          <p:nvPr/>
        </p:nvSpPr>
        <p:spPr>
          <a:xfrm>
            <a:off x="3753612" y="1225296"/>
            <a:ext cx="4681728" cy="512064"/>
          </a:xfrm>
          <a:prstGeom prst="rect">
            <a:avLst/>
          </a:prstGeom>
          <a:noFill/>
          <a:ln/>
        </p:spPr>
        <p:txBody>
          <a:bodyPr wrap="square" lIns="0" tIns="0" rIns="0" bIns="0" rtlCol="0" anchor="ctr"/>
          <a:lstStyle/>
          <a:p>
            <a:pPr marL="0" indent="0" algn="ctr">
              <a:buNone/>
            </a:pPr>
            <a:r>
              <a:rPr lang="en-US" sz="1500" b="1" dirty="0">
                <a:solidFill>
                  <a:srgbClr val="FFF200"/>
                </a:solidFill>
                <a:latin typeface="Arial" pitchFamily="34" charset="0"/>
                <a:ea typeface="Arial" pitchFamily="34" charset="-122"/>
                <a:cs typeface="Arial" pitchFamily="34" charset="-120"/>
              </a:rPr>
              <a:t>=VLOOKUP( C17 , $B$5:$E$14 , 2 , FALSE )</a:t>
            </a:r>
            <a:endParaRPr lang="en-US" sz="1500" dirty="0"/>
          </a:p>
        </p:txBody>
      </p:sp>
      <p:sp>
        <p:nvSpPr>
          <p:cNvPr id="9" name="Text 6"/>
          <p:cNvSpPr/>
          <p:nvPr/>
        </p:nvSpPr>
        <p:spPr>
          <a:xfrm>
            <a:off x="566928" y="1810512"/>
            <a:ext cx="11055096" cy="237744"/>
          </a:xfrm>
          <a:prstGeom prst="rect">
            <a:avLst/>
          </a:prstGeom>
          <a:noFill/>
          <a:ln/>
        </p:spPr>
        <p:txBody>
          <a:bodyPr wrap="square" lIns="0" tIns="0" rIns="0" bIns="0" rtlCol="0" anchor="ctr"/>
          <a:lstStyle/>
          <a:p>
            <a:pPr marL="0" indent="0" algn="ctr">
              <a:buNone/>
            </a:pPr>
            <a:r>
              <a:rPr lang="en-US" sz="1200" dirty="0">
                <a:solidFill>
                  <a:srgbClr val="2F4149"/>
                </a:solidFill>
                <a:latin typeface="Arial" pitchFamily="34" charset="0"/>
                <a:ea typeface="Arial" pitchFamily="34" charset="-122"/>
                <a:cs typeface="Arial" pitchFamily="34" charset="-120"/>
              </a:rPr>
              <a:t>1 = what to find     ·     2 = where to look     ·     3 = which column     ·     4 = exact match</a:t>
            </a:r>
            <a:endParaRPr lang="en-US" sz="1200" dirty="0"/>
          </a:p>
        </p:txBody>
      </p:sp>
      <p:pic>
        <p:nvPicPr>
          <p:cNvPr id="10" name="Image 1" descr="C:/Users/Hemendra/Projects/alight-vlookup-hlookup-deck/assets/c_formula.png"/>
          <p:cNvPicPr>
            <a:picLocks noChangeAspect="1"/>
          </p:cNvPicPr>
          <p:nvPr/>
        </p:nvPicPr>
        <p:blipFill>
          <a:blip r:embed="rId4"/>
          <a:stretch>
            <a:fillRect/>
          </a:stretch>
        </p:blipFill>
        <p:spPr>
          <a:xfrm>
            <a:off x="1607062" y="2157984"/>
            <a:ext cx="8974829" cy="4169664"/>
          </a:xfrm>
          <a:prstGeom prst="rect">
            <a:avLst/>
          </a:prstGeom>
        </p:spPr>
      </p:pic>
      <p:sp>
        <p:nvSpPr>
          <p:cNvPr id="11" name="Text 7"/>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12" name="Text 8"/>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Shape 0"/>
          <p:cNvSpPr/>
          <p:nvPr/>
        </p:nvSpPr>
        <p:spPr>
          <a:xfrm>
            <a:off x="566928" y="402336"/>
            <a:ext cx="292608" cy="292608"/>
          </a:xfrm>
          <a:prstGeom prst="ellipse">
            <a:avLst/>
          </a:prstGeom>
          <a:solidFill>
            <a:srgbClr val="FFF200"/>
          </a:solidFill>
          <a:ln w="12700">
            <a:solidFill>
              <a:srgbClr val="FFF200"/>
            </a:solidFill>
            <a:prstDash val="solid"/>
          </a:ln>
        </p:spPr>
      </p:sp>
      <p:sp>
        <p:nvSpPr>
          <p:cNvPr id="4" name="Text 1"/>
          <p:cNvSpPr/>
          <p:nvPr/>
        </p:nvSpPr>
        <p:spPr>
          <a:xfrm>
            <a:off x="566928" y="402336"/>
            <a:ext cx="292608" cy="292608"/>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3</a:t>
            </a:r>
            <a:endParaRPr lang="en-US" sz="1200" dirty="0"/>
          </a:p>
        </p:txBody>
      </p:sp>
      <p:sp>
        <p:nvSpPr>
          <p:cNvPr id="5" name="Text 2"/>
          <p:cNvSpPr/>
          <p:nvPr/>
        </p:nvSpPr>
        <p:spPr>
          <a:xfrm>
            <a:off x="969264" y="420624"/>
            <a:ext cx="977493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VLOOKUP · PART 3</a:t>
            </a:r>
            <a:endParaRPr lang="en-US" sz="1150" dirty="0"/>
          </a:p>
        </p:txBody>
      </p:sp>
      <p:sp>
        <p:nvSpPr>
          <p:cNvPr id="6" name="Text 3"/>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Excel fills in the answers by itself</a:t>
            </a:r>
            <a:endParaRPr lang="en-US" sz="2800" dirty="0"/>
          </a:p>
        </p:txBody>
      </p:sp>
      <p:sp>
        <p:nvSpPr>
          <p:cNvPr id="7" name="Shape 4"/>
          <p:cNvSpPr/>
          <p:nvPr/>
        </p:nvSpPr>
        <p:spPr>
          <a:xfrm>
            <a:off x="2080260" y="1316736"/>
            <a:ext cx="2521915" cy="384048"/>
          </a:xfrm>
          <a:prstGeom prst="roundRect">
            <a:avLst>
              <a:gd name="adj" fmla="val 50000"/>
            </a:avLst>
          </a:prstGeom>
          <a:solidFill>
            <a:srgbClr val="FFF200"/>
          </a:solidFill>
          <a:ln w="12700">
            <a:solidFill>
              <a:srgbClr val="FFF200"/>
            </a:solidFill>
            <a:prstDash val="solid"/>
          </a:ln>
        </p:spPr>
      </p:sp>
      <p:sp>
        <p:nvSpPr>
          <p:cNvPr id="8" name="Text 5"/>
          <p:cNvSpPr/>
          <p:nvPr/>
        </p:nvSpPr>
        <p:spPr>
          <a:xfrm>
            <a:off x="2080260" y="1316736"/>
            <a:ext cx="2521915" cy="384048"/>
          </a:xfrm>
          <a:prstGeom prst="rect">
            <a:avLst/>
          </a:prstGeom>
          <a:noFill/>
          <a:ln/>
        </p:spPr>
        <p:txBody>
          <a:bodyPr wrap="square" lIns="0" tIns="0" rIns="0" bIns="0" rtlCol="0" anchor="ctr"/>
          <a:lstStyle/>
          <a:p>
            <a:pPr marL="0" indent="0" algn="ctr">
              <a:buNone/>
            </a:pPr>
            <a:r>
              <a:rPr lang="en-US" sz="1250" b="1" dirty="0">
                <a:solidFill>
                  <a:srgbClr val="0A2029"/>
                </a:solidFill>
                <a:latin typeface="Arial" pitchFamily="34" charset="0"/>
                <a:ea typeface="Arial" pitchFamily="34" charset="-122"/>
                <a:cs typeface="Arial" pitchFamily="34" charset="-120"/>
              </a:rPr>
              <a:t>✓ No typing, no copy-paste</a:t>
            </a:r>
            <a:endParaRPr lang="en-US" sz="1250" dirty="0"/>
          </a:p>
        </p:txBody>
      </p:sp>
      <p:sp>
        <p:nvSpPr>
          <p:cNvPr id="9" name="Shape 6"/>
          <p:cNvSpPr/>
          <p:nvPr/>
        </p:nvSpPr>
        <p:spPr>
          <a:xfrm>
            <a:off x="4748479" y="1316736"/>
            <a:ext cx="2521915" cy="384048"/>
          </a:xfrm>
          <a:prstGeom prst="roundRect">
            <a:avLst>
              <a:gd name="adj" fmla="val 50000"/>
            </a:avLst>
          </a:prstGeom>
          <a:solidFill>
            <a:srgbClr val="FFFFFF"/>
          </a:solidFill>
          <a:ln w="12700">
            <a:solidFill>
              <a:srgbClr val="DFE3E5"/>
            </a:solidFill>
            <a:prstDash val="solid"/>
          </a:ln>
        </p:spPr>
      </p:sp>
      <p:sp>
        <p:nvSpPr>
          <p:cNvPr id="10" name="Text 7"/>
          <p:cNvSpPr/>
          <p:nvPr/>
        </p:nvSpPr>
        <p:spPr>
          <a:xfrm>
            <a:off x="4748479" y="1316736"/>
            <a:ext cx="2521915" cy="384048"/>
          </a:xfrm>
          <a:prstGeom prst="rect">
            <a:avLst/>
          </a:prstGeom>
          <a:noFill/>
          <a:ln/>
        </p:spPr>
        <p:txBody>
          <a:bodyPr wrap="square" lIns="0" tIns="0" rIns="0" bIns="0" rtlCol="0" anchor="ctr"/>
          <a:lstStyle/>
          <a:p>
            <a:pPr marL="0" indent="0" algn="ctr">
              <a:buNone/>
            </a:pPr>
            <a:r>
              <a:rPr lang="en-US" sz="1250" b="1" dirty="0">
                <a:solidFill>
                  <a:srgbClr val="2F4149"/>
                </a:solidFill>
                <a:latin typeface="Arial" pitchFamily="34" charset="0"/>
                <a:ea typeface="Arial" pitchFamily="34" charset="-122"/>
                <a:cs typeface="Arial" pitchFamily="34" charset="-120"/>
              </a:rPr>
              <a:t>✓ Answers update instantly</a:t>
            </a:r>
            <a:endParaRPr lang="en-US" sz="1250" dirty="0"/>
          </a:p>
        </p:txBody>
      </p:sp>
      <p:sp>
        <p:nvSpPr>
          <p:cNvPr id="11" name="Shape 8"/>
          <p:cNvSpPr/>
          <p:nvPr/>
        </p:nvSpPr>
        <p:spPr>
          <a:xfrm>
            <a:off x="7416698" y="1316736"/>
            <a:ext cx="2691994" cy="384048"/>
          </a:xfrm>
          <a:prstGeom prst="roundRect">
            <a:avLst>
              <a:gd name="adj" fmla="val 50000"/>
            </a:avLst>
          </a:prstGeom>
          <a:solidFill>
            <a:srgbClr val="FFFFFF"/>
          </a:solidFill>
          <a:ln w="12700">
            <a:solidFill>
              <a:srgbClr val="DFE3E5"/>
            </a:solidFill>
            <a:prstDash val="solid"/>
          </a:ln>
        </p:spPr>
      </p:sp>
      <p:sp>
        <p:nvSpPr>
          <p:cNvPr id="12" name="Text 9"/>
          <p:cNvSpPr/>
          <p:nvPr/>
        </p:nvSpPr>
        <p:spPr>
          <a:xfrm>
            <a:off x="7416698" y="1316736"/>
            <a:ext cx="2691994" cy="384048"/>
          </a:xfrm>
          <a:prstGeom prst="rect">
            <a:avLst/>
          </a:prstGeom>
          <a:noFill/>
          <a:ln/>
        </p:spPr>
        <p:txBody>
          <a:bodyPr wrap="square" lIns="0" tIns="0" rIns="0" bIns="0" rtlCol="0" anchor="ctr"/>
          <a:lstStyle/>
          <a:p>
            <a:pPr marL="0" indent="0" algn="ctr">
              <a:buNone/>
            </a:pPr>
            <a:r>
              <a:rPr lang="en-US" sz="1250" b="1" dirty="0">
                <a:solidFill>
                  <a:srgbClr val="2F4149"/>
                </a:solidFill>
                <a:latin typeface="Arial" pitchFamily="34" charset="0"/>
                <a:ea typeface="Arial" pitchFamily="34" charset="-122"/>
                <a:cs typeface="Arial" pitchFamily="34" charset="-120"/>
              </a:rPr>
              <a:t>✓ Works on thousands of rows</a:t>
            </a:r>
            <a:endParaRPr lang="en-US" sz="1250" dirty="0"/>
          </a:p>
        </p:txBody>
      </p:sp>
      <p:pic>
        <p:nvPicPr>
          <p:cNvPr id="13" name="Image 1" descr="C:/Users/Hemendra/Projects/alight-vlookup-hlookup-deck/assets/d_result.png"/>
          <p:cNvPicPr>
            <a:picLocks noChangeAspect="1"/>
          </p:cNvPicPr>
          <p:nvPr/>
        </p:nvPicPr>
        <p:blipFill>
          <a:blip r:embed="rId4"/>
          <a:stretch>
            <a:fillRect/>
          </a:stretch>
        </p:blipFill>
        <p:spPr>
          <a:xfrm>
            <a:off x="1292155" y="1865376"/>
            <a:ext cx="9604641" cy="4462272"/>
          </a:xfrm>
          <a:prstGeom prst="rect">
            <a:avLst/>
          </a:prstGeom>
        </p:spPr>
      </p:pic>
      <p:sp>
        <p:nvSpPr>
          <p:cNvPr id="14" name="Text 10"/>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15" name="Text 11"/>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Shape 0"/>
          <p:cNvSpPr/>
          <p:nvPr/>
        </p:nvSpPr>
        <p:spPr>
          <a:xfrm>
            <a:off x="566928" y="402336"/>
            <a:ext cx="292608" cy="292608"/>
          </a:xfrm>
          <a:prstGeom prst="ellipse">
            <a:avLst/>
          </a:prstGeom>
          <a:solidFill>
            <a:srgbClr val="FFF200"/>
          </a:solidFill>
          <a:ln w="12700">
            <a:solidFill>
              <a:srgbClr val="FFF200"/>
            </a:solidFill>
            <a:prstDash val="solid"/>
          </a:ln>
        </p:spPr>
      </p:sp>
      <p:sp>
        <p:nvSpPr>
          <p:cNvPr id="4" name="Text 1"/>
          <p:cNvSpPr/>
          <p:nvPr/>
        </p:nvSpPr>
        <p:spPr>
          <a:xfrm>
            <a:off x="566928" y="402336"/>
            <a:ext cx="292608" cy="292608"/>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4</a:t>
            </a:r>
            <a:endParaRPr lang="en-US" sz="1200" dirty="0"/>
          </a:p>
        </p:txBody>
      </p:sp>
      <p:sp>
        <p:nvSpPr>
          <p:cNvPr id="5" name="Text 2"/>
          <p:cNvSpPr/>
          <p:nvPr/>
        </p:nvSpPr>
        <p:spPr>
          <a:xfrm>
            <a:off x="969264" y="420624"/>
            <a:ext cx="977493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HLOOKUP</a:t>
            </a:r>
            <a:endParaRPr lang="en-US" sz="1150" dirty="0"/>
          </a:p>
        </p:txBody>
      </p:sp>
      <p:sp>
        <p:nvSpPr>
          <p:cNvPr id="6" name="Text 3"/>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When the table runs sideways</a:t>
            </a:r>
            <a:endParaRPr lang="en-US" sz="2800" dirty="0"/>
          </a:p>
        </p:txBody>
      </p:sp>
      <p:sp>
        <p:nvSpPr>
          <p:cNvPr id="7" name="Shape 4"/>
          <p:cNvSpPr/>
          <p:nvPr/>
        </p:nvSpPr>
        <p:spPr>
          <a:xfrm>
            <a:off x="1655064" y="1316736"/>
            <a:ext cx="2691994" cy="384048"/>
          </a:xfrm>
          <a:prstGeom prst="roundRect">
            <a:avLst>
              <a:gd name="adj" fmla="val 50000"/>
            </a:avLst>
          </a:prstGeom>
          <a:solidFill>
            <a:srgbClr val="FFF200"/>
          </a:solidFill>
          <a:ln w="12700">
            <a:solidFill>
              <a:srgbClr val="FFF200"/>
            </a:solidFill>
            <a:prstDash val="solid"/>
          </a:ln>
        </p:spPr>
      </p:sp>
      <p:sp>
        <p:nvSpPr>
          <p:cNvPr id="8" name="Text 5"/>
          <p:cNvSpPr/>
          <p:nvPr/>
        </p:nvSpPr>
        <p:spPr>
          <a:xfrm>
            <a:off x="1655064" y="1316736"/>
            <a:ext cx="2691994" cy="384048"/>
          </a:xfrm>
          <a:prstGeom prst="rect">
            <a:avLst/>
          </a:prstGeom>
          <a:noFill/>
          <a:ln/>
        </p:spPr>
        <p:txBody>
          <a:bodyPr wrap="square" lIns="0" tIns="0" rIns="0" bIns="0" rtlCol="0" anchor="ctr"/>
          <a:lstStyle/>
          <a:p>
            <a:pPr marL="0" indent="0" algn="ctr">
              <a:buNone/>
            </a:pPr>
            <a:r>
              <a:rPr lang="en-US" sz="1250" b="1" dirty="0">
                <a:solidFill>
                  <a:srgbClr val="0A2029"/>
                </a:solidFill>
                <a:latin typeface="Arial" pitchFamily="34" charset="0"/>
                <a:ea typeface="Arial" pitchFamily="34" charset="-122"/>
                <a:cs typeface="Arial" pitchFamily="34" charset="-120"/>
              </a:rPr>
              <a:t>Row 1 → the labels you match</a:t>
            </a:r>
            <a:endParaRPr lang="en-US" sz="1250" dirty="0"/>
          </a:p>
        </p:txBody>
      </p:sp>
      <p:sp>
        <p:nvSpPr>
          <p:cNvPr id="9" name="Shape 6"/>
          <p:cNvSpPr/>
          <p:nvPr/>
        </p:nvSpPr>
        <p:spPr>
          <a:xfrm>
            <a:off x="4493362" y="1316736"/>
            <a:ext cx="2606954" cy="384048"/>
          </a:xfrm>
          <a:prstGeom prst="roundRect">
            <a:avLst>
              <a:gd name="adj" fmla="val 50000"/>
            </a:avLst>
          </a:prstGeom>
          <a:solidFill>
            <a:srgbClr val="FFFFFF"/>
          </a:solidFill>
          <a:ln w="12700">
            <a:solidFill>
              <a:srgbClr val="DFE3E5"/>
            </a:solidFill>
            <a:prstDash val="solid"/>
          </a:ln>
        </p:spPr>
      </p:sp>
      <p:sp>
        <p:nvSpPr>
          <p:cNvPr id="10" name="Text 7"/>
          <p:cNvSpPr/>
          <p:nvPr/>
        </p:nvSpPr>
        <p:spPr>
          <a:xfrm>
            <a:off x="4493362" y="1316736"/>
            <a:ext cx="2606954" cy="384048"/>
          </a:xfrm>
          <a:prstGeom prst="rect">
            <a:avLst/>
          </a:prstGeom>
          <a:noFill/>
          <a:ln/>
        </p:spPr>
        <p:txBody>
          <a:bodyPr wrap="square" lIns="0" tIns="0" rIns="0" bIns="0" rtlCol="0" anchor="ctr"/>
          <a:lstStyle/>
          <a:p>
            <a:pPr marL="0" indent="0" algn="ctr">
              <a:buNone/>
            </a:pPr>
            <a:r>
              <a:rPr lang="en-US" sz="1250" b="1" dirty="0">
                <a:solidFill>
                  <a:srgbClr val="2F4149"/>
                </a:solidFill>
                <a:latin typeface="Arial" pitchFamily="34" charset="0"/>
                <a:ea typeface="Arial" pitchFamily="34" charset="-122"/>
                <a:cs typeface="Arial" pitchFamily="34" charset="-120"/>
              </a:rPr>
              <a:t>Row 2 → the answer you want</a:t>
            </a:r>
            <a:endParaRPr lang="en-US" sz="1250" dirty="0"/>
          </a:p>
        </p:txBody>
      </p:sp>
      <p:sp>
        <p:nvSpPr>
          <p:cNvPr id="11" name="Shape 8"/>
          <p:cNvSpPr/>
          <p:nvPr/>
        </p:nvSpPr>
        <p:spPr>
          <a:xfrm>
            <a:off x="7246620" y="1316736"/>
            <a:ext cx="3287268" cy="384048"/>
          </a:xfrm>
          <a:prstGeom prst="roundRect">
            <a:avLst>
              <a:gd name="adj" fmla="val 50000"/>
            </a:avLst>
          </a:prstGeom>
          <a:solidFill>
            <a:srgbClr val="FFFFFF"/>
          </a:solidFill>
          <a:ln w="12700">
            <a:solidFill>
              <a:srgbClr val="DFE3E5"/>
            </a:solidFill>
            <a:prstDash val="solid"/>
          </a:ln>
        </p:spPr>
      </p:sp>
      <p:sp>
        <p:nvSpPr>
          <p:cNvPr id="12" name="Text 9"/>
          <p:cNvSpPr/>
          <p:nvPr/>
        </p:nvSpPr>
        <p:spPr>
          <a:xfrm>
            <a:off x="7246620" y="1316736"/>
            <a:ext cx="3287268" cy="384048"/>
          </a:xfrm>
          <a:prstGeom prst="rect">
            <a:avLst/>
          </a:prstGeom>
          <a:noFill/>
          <a:ln/>
        </p:spPr>
        <p:txBody>
          <a:bodyPr wrap="square" lIns="0" tIns="0" rIns="0" bIns="0" rtlCol="0" anchor="ctr"/>
          <a:lstStyle/>
          <a:p>
            <a:pPr marL="0" indent="0" algn="ctr">
              <a:buNone/>
            </a:pPr>
            <a:r>
              <a:rPr lang="en-US" sz="1250" b="1" dirty="0">
                <a:solidFill>
                  <a:srgbClr val="2F4149"/>
                </a:solidFill>
                <a:latin typeface="Arial" pitchFamily="34" charset="0"/>
                <a:ea typeface="Arial" pitchFamily="34" charset="-122"/>
                <a:cs typeface="Arial" pitchFamily="34" charset="-120"/>
              </a:rPr>
              <a:t>Excel walks across, then drops down</a:t>
            </a:r>
            <a:endParaRPr lang="en-US" sz="1250" dirty="0"/>
          </a:p>
        </p:txBody>
      </p:sp>
      <p:pic>
        <p:nvPicPr>
          <p:cNvPr id="13" name="Image 1" descr="C:/Users/Hemendra/Projects/alight-vlookup-hlookup-deck/assets/e_table2.png"/>
          <p:cNvPicPr>
            <a:picLocks noChangeAspect="1"/>
          </p:cNvPicPr>
          <p:nvPr/>
        </p:nvPicPr>
        <p:blipFill>
          <a:blip r:embed="rId4"/>
          <a:stretch>
            <a:fillRect/>
          </a:stretch>
        </p:blipFill>
        <p:spPr>
          <a:xfrm>
            <a:off x="1292155" y="1865376"/>
            <a:ext cx="9604641" cy="4462272"/>
          </a:xfrm>
          <a:prstGeom prst="rect">
            <a:avLst/>
          </a:prstGeom>
        </p:spPr>
      </p:pic>
      <p:sp>
        <p:nvSpPr>
          <p:cNvPr id="14" name="Text 10"/>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15" name="Text 11"/>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Shape 0"/>
          <p:cNvSpPr/>
          <p:nvPr/>
        </p:nvSpPr>
        <p:spPr>
          <a:xfrm>
            <a:off x="566928" y="402336"/>
            <a:ext cx="292608" cy="292608"/>
          </a:xfrm>
          <a:prstGeom prst="ellipse">
            <a:avLst/>
          </a:prstGeom>
          <a:solidFill>
            <a:srgbClr val="FFF200"/>
          </a:solidFill>
          <a:ln w="12700">
            <a:solidFill>
              <a:srgbClr val="FFF200"/>
            </a:solidFill>
            <a:prstDash val="solid"/>
          </a:ln>
        </p:spPr>
      </p:sp>
      <p:sp>
        <p:nvSpPr>
          <p:cNvPr id="4" name="Text 1"/>
          <p:cNvSpPr/>
          <p:nvPr/>
        </p:nvSpPr>
        <p:spPr>
          <a:xfrm>
            <a:off x="566928" y="402336"/>
            <a:ext cx="292608" cy="292608"/>
          </a:xfrm>
          <a:prstGeom prst="rect">
            <a:avLst/>
          </a:prstGeom>
          <a:noFill/>
          <a:ln/>
        </p:spPr>
        <p:txBody>
          <a:bodyPr wrap="square" lIns="0" tIns="0" rIns="0" bIns="0" rtlCol="0" anchor="ctr"/>
          <a:lstStyle/>
          <a:p>
            <a:pPr marL="0" indent="0" algn="ctr">
              <a:buNone/>
            </a:pPr>
            <a:r>
              <a:rPr lang="en-US" sz="1200" b="1" dirty="0">
                <a:solidFill>
                  <a:srgbClr val="0A2029"/>
                </a:solidFill>
                <a:latin typeface="Arial" pitchFamily="34" charset="0"/>
                <a:ea typeface="Arial" pitchFamily="34" charset="-122"/>
                <a:cs typeface="Arial" pitchFamily="34" charset="-120"/>
              </a:rPr>
              <a:t>5</a:t>
            </a:r>
            <a:endParaRPr lang="en-US" sz="1200" dirty="0"/>
          </a:p>
        </p:txBody>
      </p:sp>
      <p:sp>
        <p:nvSpPr>
          <p:cNvPr id="5" name="Text 2"/>
          <p:cNvSpPr/>
          <p:nvPr/>
        </p:nvSpPr>
        <p:spPr>
          <a:xfrm>
            <a:off x="969264" y="420624"/>
            <a:ext cx="977493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HLOOKUP · STEP BY STEP</a:t>
            </a:r>
            <a:endParaRPr lang="en-US" sz="1150" dirty="0"/>
          </a:p>
        </p:txBody>
      </p:sp>
      <p:sp>
        <p:nvSpPr>
          <p:cNvPr id="6" name="Text 3"/>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Type the rating, get the bonus</a:t>
            </a:r>
            <a:endParaRPr lang="en-US" sz="2800" dirty="0"/>
          </a:p>
        </p:txBody>
      </p:sp>
      <p:sp>
        <p:nvSpPr>
          <p:cNvPr id="7" name="Shape 4"/>
          <p:cNvSpPr/>
          <p:nvPr/>
        </p:nvSpPr>
        <p:spPr>
          <a:xfrm>
            <a:off x="3573018" y="1225296"/>
            <a:ext cx="5042916" cy="512064"/>
          </a:xfrm>
          <a:prstGeom prst="roundRect">
            <a:avLst>
              <a:gd name="adj" fmla="val 25000"/>
            </a:avLst>
          </a:prstGeom>
          <a:solidFill>
            <a:srgbClr val="0A2029"/>
          </a:solidFill>
          <a:ln w="12700">
            <a:solidFill>
              <a:srgbClr val="0A2029"/>
            </a:solidFill>
            <a:prstDash val="solid"/>
          </a:ln>
        </p:spPr>
      </p:sp>
      <p:sp>
        <p:nvSpPr>
          <p:cNvPr id="8" name="Text 5"/>
          <p:cNvSpPr/>
          <p:nvPr/>
        </p:nvSpPr>
        <p:spPr>
          <a:xfrm>
            <a:off x="3701034" y="1225296"/>
            <a:ext cx="4786884" cy="512064"/>
          </a:xfrm>
          <a:prstGeom prst="rect">
            <a:avLst/>
          </a:prstGeom>
          <a:noFill/>
          <a:ln/>
        </p:spPr>
        <p:txBody>
          <a:bodyPr wrap="square" lIns="0" tIns="0" rIns="0" bIns="0" rtlCol="0" anchor="ctr"/>
          <a:lstStyle/>
          <a:p>
            <a:pPr marL="0" indent="0" algn="ctr">
              <a:buNone/>
            </a:pPr>
            <a:r>
              <a:rPr lang="en-US" sz="1500" b="1" dirty="0">
                <a:solidFill>
                  <a:srgbClr val="FFF200"/>
                </a:solidFill>
                <a:latin typeface="Arial" pitchFamily="34" charset="0"/>
                <a:ea typeface="Arial" pitchFamily="34" charset="-122"/>
                <a:cs typeface="Arial" pitchFamily="34" charset="-120"/>
              </a:rPr>
              <a:t>=HLOOKUP( C27 , $C$23:$F$24 , 2 , FALSE )</a:t>
            </a:r>
            <a:endParaRPr lang="en-US" sz="1500" dirty="0"/>
          </a:p>
        </p:txBody>
      </p:sp>
      <p:sp>
        <p:nvSpPr>
          <p:cNvPr id="9" name="Text 6"/>
          <p:cNvSpPr/>
          <p:nvPr/>
        </p:nvSpPr>
        <p:spPr>
          <a:xfrm>
            <a:off x="566928" y="1810512"/>
            <a:ext cx="11055096" cy="237744"/>
          </a:xfrm>
          <a:prstGeom prst="rect">
            <a:avLst/>
          </a:prstGeom>
          <a:noFill/>
          <a:ln/>
        </p:spPr>
        <p:txBody>
          <a:bodyPr wrap="square" lIns="0" tIns="0" rIns="0" bIns="0" rtlCol="0" anchor="ctr"/>
          <a:lstStyle/>
          <a:p>
            <a:pPr marL="0" indent="0" algn="ctr">
              <a:buNone/>
            </a:pPr>
            <a:r>
              <a:rPr lang="en-US" sz="1200" dirty="0">
                <a:solidFill>
                  <a:srgbClr val="2F4149"/>
                </a:solidFill>
                <a:latin typeface="Arial" pitchFamily="34" charset="0"/>
                <a:ea typeface="Arial" pitchFamily="34" charset="-122"/>
                <a:cs typeface="Arial" pitchFamily="34" charset="-120"/>
              </a:rPr>
              <a:t>1 = the rating     ·     2 = the whole block     ·     3 = row 2 holds the answer     ·     4 = exact match</a:t>
            </a:r>
            <a:endParaRPr lang="en-US" sz="1200" dirty="0"/>
          </a:p>
        </p:txBody>
      </p:sp>
      <p:pic>
        <p:nvPicPr>
          <p:cNvPr id="10" name="Image 1" descr="C:/Users/Hemendra/Projects/alight-vlookup-hlookup-deck/assets/f_hlookup.png"/>
          <p:cNvPicPr>
            <a:picLocks noChangeAspect="1"/>
          </p:cNvPicPr>
          <p:nvPr/>
        </p:nvPicPr>
        <p:blipFill>
          <a:blip r:embed="rId4"/>
          <a:stretch>
            <a:fillRect/>
          </a:stretch>
        </p:blipFill>
        <p:spPr>
          <a:xfrm>
            <a:off x="1990056" y="2157984"/>
            <a:ext cx="8208841" cy="4169664"/>
          </a:xfrm>
          <a:prstGeom prst="rect">
            <a:avLst/>
          </a:prstGeom>
        </p:spPr>
      </p:pic>
      <p:sp>
        <p:nvSpPr>
          <p:cNvPr id="11" name="Text 7"/>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12" name="Text 8"/>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2F2"/>
        </a:solidFill>
        <a:effectLst/>
      </p:bgPr>
    </p:bg>
    <p:spTree>
      <p:nvGrpSpPr>
        <p:cNvPr id="1" name=""/>
        <p:cNvGrpSpPr/>
        <p:nvPr/>
      </p:nvGrpSpPr>
      <p:grpSpPr>
        <a:xfrm>
          <a:off x="0" y="0"/>
          <a:ext cx="0" cy="0"/>
          <a:chOff x="0" y="0"/>
          <a:chExt cx="0" cy="0"/>
        </a:xfrm>
      </p:grpSpPr>
      <p:pic>
        <p:nvPicPr>
          <p:cNvPr id="2" name="Image 0" descr="C:/Users/Hemendra/Projects/alight-vlookup-hlookup-deck/assets/alight_logo_dark.png"/>
          <p:cNvPicPr>
            <a:picLocks noChangeAspect="1"/>
          </p:cNvPicPr>
          <p:nvPr/>
        </p:nvPicPr>
        <p:blipFill>
          <a:blip r:embed="rId3"/>
          <a:stretch>
            <a:fillRect/>
          </a:stretch>
        </p:blipFill>
        <p:spPr>
          <a:xfrm>
            <a:off x="10652760" y="402336"/>
            <a:ext cx="969264" cy="359359"/>
          </a:xfrm>
          <a:prstGeom prst="rect">
            <a:avLst/>
          </a:prstGeom>
        </p:spPr>
      </p:pic>
      <p:sp>
        <p:nvSpPr>
          <p:cNvPr id="3" name="Text 0"/>
          <p:cNvSpPr/>
          <p:nvPr/>
        </p:nvSpPr>
        <p:spPr>
          <a:xfrm>
            <a:off x="566928" y="420624"/>
            <a:ext cx="9866376" cy="237744"/>
          </a:xfrm>
          <a:prstGeom prst="rect">
            <a:avLst/>
          </a:prstGeom>
          <a:noFill/>
          <a:ln/>
        </p:spPr>
        <p:txBody>
          <a:bodyPr wrap="square" lIns="0" tIns="0" rIns="0" bIns="0" rtlCol="0" anchor="ctr"/>
          <a:lstStyle/>
          <a:p>
            <a:pPr marL="0" indent="0">
              <a:buNone/>
            </a:pPr>
            <a:r>
              <a:rPr lang="en-US" sz="1150" b="1" kern="0" spc="160" dirty="0">
                <a:solidFill>
                  <a:srgbClr val="2F4149"/>
                </a:solidFill>
                <a:latin typeface="Arial" pitchFamily="34" charset="0"/>
                <a:ea typeface="Arial" pitchFamily="34" charset="-122"/>
                <a:cs typeface="Arial" pitchFamily="34" charset="-120"/>
              </a:rPr>
              <a:t>WHICH ONE DO I USE?</a:t>
            </a:r>
            <a:endParaRPr lang="en-US" sz="1150" dirty="0"/>
          </a:p>
        </p:txBody>
      </p:sp>
      <p:sp>
        <p:nvSpPr>
          <p:cNvPr id="4" name="Text 1"/>
          <p:cNvSpPr/>
          <p:nvPr/>
        </p:nvSpPr>
        <p:spPr>
          <a:xfrm>
            <a:off x="566928" y="731520"/>
            <a:ext cx="9866376" cy="512064"/>
          </a:xfrm>
          <a:prstGeom prst="rect">
            <a:avLst/>
          </a:prstGeom>
          <a:noFill/>
          <a:ln/>
        </p:spPr>
        <p:txBody>
          <a:bodyPr wrap="square" lIns="0" tIns="0" rIns="0" bIns="0" rtlCol="0" anchor="t"/>
          <a:lstStyle/>
          <a:p>
            <a:pPr marL="0" indent="0">
              <a:lnSpc>
                <a:spcPct val="95000"/>
              </a:lnSpc>
              <a:buNone/>
            </a:pPr>
            <a:r>
              <a:rPr lang="en-US" sz="2800" b="1" dirty="0">
                <a:solidFill>
                  <a:srgbClr val="0A2029"/>
                </a:solidFill>
                <a:latin typeface="Arial" pitchFamily="34" charset="0"/>
                <a:ea typeface="Arial" pitchFamily="34" charset="-122"/>
                <a:cs typeface="Arial" pitchFamily="34" charset="-120"/>
              </a:rPr>
              <a:t>Pick by direction, not by difficulty</a:t>
            </a:r>
            <a:endParaRPr lang="en-US" sz="2800" dirty="0"/>
          </a:p>
        </p:txBody>
      </p:sp>
      <p:sp>
        <p:nvSpPr>
          <p:cNvPr id="5" name="Text 2"/>
          <p:cNvSpPr/>
          <p:nvPr/>
        </p:nvSpPr>
        <p:spPr>
          <a:xfrm>
            <a:off x="566928" y="1316736"/>
            <a:ext cx="9866376" cy="457200"/>
          </a:xfrm>
          <a:prstGeom prst="rect">
            <a:avLst/>
          </a:prstGeom>
          <a:noFill/>
          <a:ln/>
        </p:spPr>
        <p:txBody>
          <a:bodyPr wrap="square" lIns="0" tIns="0" rIns="0" bIns="0" rtlCol="0" anchor="t"/>
          <a:lstStyle/>
          <a:p>
            <a:pPr marL="0" indent="0">
              <a:lnSpc>
                <a:spcPct val="105000"/>
              </a:lnSpc>
              <a:buNone/>
            </a:pPr>
            <a:r>
              <a:rPr lang="en-US" sz="1450" dirty="0">
                <a:solidFill>
                  <a:srgbClr val="2F4149"/>
                </a:solidFill>
                <a:latin typeface="Arial" pitchFamily="34" charset="0"/>
                <a:ea typeface="Arial" pitchFamily="34" charset="-122"/>
                <a:cs typeface="Arial" pitchFamily="34" charset="-120"/>
              </a:rPr>
              <a:t>If your labels run down a column, use VLOOKUP. If they run across a row, use HLOOKUP. The formula is the same shape either way.</a:t>
            </a:r>
            <a:endParaRPr lang="en-US" sz="1450" dirty="0"/>
          </a:p>
        </p:txBody>
      </p:sp>
      <p:pic>
        <p:nvPicPr>
          <p:cNvPr id="6" name="Image 1" descr="C:/Users/Hemendra/Projects/alight-vlookup-hlookup-deck/assets/g_compare.png"/>
          <p:cNvPicPr>
            <a:picLocks noChangeAspect="1"/>
          </p:cNvPicPr>
          <p:nvPr/>
        </p:nvPicPr>
        <p:blipFill>
          <a:blip r:embed="rId4"/>
          <a:stretch>
            <a:fillRect/>
          </a:stretch>
        </p:blipFill>
        <p:spPr>
          <a:xfrm>
            <a:off x="1240536" y="1847088"/>
            <a:ext cx="9707880" cy="4480560"/>
          </a:xfrm>
          <a:prstGeom prst="rect">
            <a:avLst/>
          </a:prstGeom>
        </p:spPr>
      </p:pic>
      <p:sp>
        <p:nvSpPr>
          <p:cNvPr id="7" name="Text 3"/>
          <p:cNvSpPr/>
          <p:nvPr/>
        </p:nvSpPr>
        <p:spPr>
          <a:xfrm>
            <a:off x="566928" y="6437376"/>
            <a:ext cx="9957816" cy="219456"/>
          </a:xfrm>
          <a:prstGeom prst="rect">
            <a:avLst/>
          </a:prstGeom>
          <a:noFill/>
          <a:ln/>
        </p:spPr>
        <p:txBody>
          <a:bodyPr wrap="square" lIns="0" tIns="0" rIns="0" bIns="0" rtlCol="0" anchor="ctr"/>
          <a:lstStyle/>
          <a:p>
            <a:pPr marL="0" indent="0">
              <a:buNone/>
            </a:pPr>
            <a:r>
              <a:rPr lang="en-US" sz="950" dirty="0">
                <a:solidFill>
                  <a:srgbClr val="6C797F"/>
                </a:solidFill>
                <a:latin typeface="Arial" pitchFamily="34" charset="0"/>
                <a:ea typeface="Arial" pitchFamily="34" charset="-122"/>
                <a:cs typeface="Arial" pitchFamily="34" charset="-120"/>
              </a:rPr>
              <a:t>VLOOKUP &amp; HLOOKUP  |  Backend Processing Team  |  Alight</a:t>
            </a:r>
            <a:endParaRPr lang="en-US" sz="950" dirty="0"/>
          </a:p>
        </p:txBody>
      </p:sp>
      <p:sp>
        <p:nvSpPr>
          <p:cNvPr id="8" name="Text 4"/>
          <p:cNvSpPr/>
          <p:nvPr/>
        </p:nvSpPr>
        <p:spPr>
          <a:xfrm>
            <a:off x="11164824" y="6437376"/>
            <a:ext cx="457200" cy="219456"/>
          </a:xfrm>
          <a:prstGeom prst="rect">
            <a:avLst/>
          </a:prstGeom>
          <a:noFill/>
          <a:ln/>
        </p:spPr>
        <p:txBody>
          <a:bodyPr wrap="square" lIns="0" tIns="0" rIns="0" bIns="0" rtlCol="0" anchor="ctr"/>
          <a:lstStyle/>
          <a:p>
            <a:pPr marL="0" indent="0" algn="r">
              <a:buNone/>
            </a:pPr>
            <a:r>
              <a:rPr lang="en-US" sz="950" b="1" dirty="0">
                <a:solidFill>
                  <a:srgbClr val="2F4149"/>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029"/>
        </a:solidFill>
        <a:effectLst/>
      </p:bgPr>
    </p:bg>
    <p:spTree>
      <p:nvGrpSpPr>
        <p:cNvPr id="1" name=""/>
        <p:cNvGrpSpPr/>
        <p:nvPr/>
      </p:nvGrpSpPr>
      <p:grpSpPr>
        <a:xfrm>
          <a:off x="0" y="0"/>
          <a:ext cx="0" cy="0"/>
          <a:chOff x="0" y="0"/>
          <a:chExt cx="0" cy="0"/>
        </a:xfrm>
      </p:grpSpPr>
      <p:sp>
        <p:nvSpPr>
          <p:cNvPr id="2" name="Shape 0"/>
          <p:cNvSpPr/>
          <p:nvPr/>
        </p:nvSpPr>
        <p:spPr>
          <a:xfrm>
            <a:off x="10671048" y="5541264"/>
            <a:ext cx="274320" cy="274320"/>
          </a:xfrm>
          <a:prstGeom prst="rect">
            <a:avLst/>
          </a:prstGeom>
          <a:solidFill>
            <a:srgbClr val="0A2029">
              <a:alpha val="0"/>
            </a:srgbClr>
          </a:solidFill>
          <a:ln w="12700">
            <a:solidFill>
              <a:srgbClr val="2F4149"/>
            </a:solidFill>
            <a:prstDash val="solid"/>
          </a:ln>
        </p:spPr>
      </p:sp>
      <p:sp>
        <p:nvSpPr>
          <p:cNvPr id="3" name="Shape 1"/>
          <p:cNvSpPr/>
          <p:nvPr/>
        </p:nvSpPr>
        <p:spPr>
          <a:xfrm>
            <a:off x="11009376" y="5541264"/>
            <a:ext cx="274320" cy="274320"/>
          </a:xfrm>
          <a:prstGeom prst="rect">
            <a:avLst/>
          </a:prstGeom>
          <a:solidFill>
            <a:srgbClr val="FFF200"/>
          </a:solidFill>
          <a:ln w="12700">
            <a:solidFill>
              <a:srgbClr val="FFF200"/>
            </a:solidFill>
            <a:prstDash val="solid"/>
          </a:ln>
        </p:spPr>
      </p:sp>
      <p:sp>
        <p:nvSpPr>
          <p:cNvPr id="4" name="Shape 2"/>
          <p:cNvSpPr/>
          <p:nvPr/>
        </p:nvSpPr>
        <p:spPr>
          <a:xfrm>
            <a:off x="11347704" y="5541264"/>
            <a:ext cx="274320" cy="274320"/>
          </a:xfrm>
          <a:prstGeom prst="rect">
            <a:avLst/>
          </a:prstGeom>
          <a:solidFill>
            <a:srgbClr val="0A2029">
              <a:alpha val="0"/>
            </a:srgbClr>
          </a:solidFill>
          <a:ln w="12700">
            <a:solidFill>
              <a:srgbClr val="2F4149"/>
            </a:solidFill>
            <a:prstDash val="solid"/>
          </a:ln>
        </p:spPr>
      </p:sp>
      <p:sp>
        <p:nvSpPr>
          <p:cNvPr id="5" name="Shape 3"/>
          <p:cNvSpPr/>
          <p:nvPr/>
        </p:nvSpPr>
        <p:spPr>
          <a:xfrm>
            <a:off x="10671048" y="5879592"/>
            <a:ext cx="274320" cy="274320"/>
          </a:xfrm>
          <a:prstGeom prst="rect">
            <a:avLst/>
          </a:prstGeom>
          <a:solidFill>
            <a:srgbClr val="0A2029">
              <a:alpha val="0"/>
            </a:srgbClr>
          </a:solidFill>
          <a:ln w="12700">
            <a:solidFill>
              <a:srgbClr val="2F4149"/>
            </a:solidFill>
            <a:prstDash val="solid"/>
          </a:ln>
        </p:spPr>
      </p:sp>
      <p:sp>
        <p:nvSpPr>
          <p:cNvPr id="6" name="Shape 4"/>
          <p:cNvSpPr/>
          <p:nvPr/>
        </p:nvSpPr>
        <p:spPr>
          <a:xfrm>
            <a:off x="11009376" y="5879592"/>
            <a:ext cx="274320" cy="274320"/>
          </a:xfrm>
          <a:prstGeom prst="rect">
            <a:avLst/>
          </a:prstGeom>
          <a:solidFill>
            <a:srgbClr val="0A2029">
              <a:alpha val="0"/>
            </a:srgbClr>
          </a:solidFill>
          <a:ln w="12700">
            <a:solidFill>
              <a:srgbClr val="2F4149"/>
            </a:solidFill>
            <a:prstDash val="solid"/>
          </a:ln>
        </p:spPr>
      </p:sp>
      <p:sp>
        <p:nvSpPr>
          <p:cNvPr id="7" name="Shape 5"/>
          <p:cNvSpPr/>
          <p:nvPr/>
        </p:nvSpPr>
        <p:spPr>
          <a:xfrm>
            <a:off x="11347704" y="5879592"/>
            <a:ext cx="274320" cy="274320"/>
          </a:xfrm>
          <a:prstGeom prst="rect">
            <a:avLst/>
          </a:prstGeom>
          <a:solidFill>
            <a:srgbClr val="0A2029">
              <a:alpha val="0"/>
            </a:srgbClr>
          </a:solidFill>
          <a:ln w="12700">
            <a:solidFill>
              <a:srgbClr val="2F4149"/>
            </a:solidFill>
            <a:prstDash val="solid"/>
          </a:ln>
        </p:spPr>
      </p:sp>
      <p:pic>
        <p:nvPicPr>
          <p:cNvPr id="8" name="Image 0" descr="C:/Users/Hemendra/Projects/alight-vlookup-hlookup-deck/assets/alight_logo_yellow.png"/>
          <p:cNvPicPr>
            <a:picLocks noChangeAspect="1"/>
          </p:cNvPicPr>
          <p:nvPr/>
        </p:nvPicPr>
        <p:blipFill>
          <a:blip r:embed="rId3"/>
          <a:stretch>
            <a:fillRect/>
          </a:stretch>
        </p:blipFill>
        <p:spPr>
          <a:xfrm>
            <a:off x="10652760" y="420624"/>
            <a:ext cx="969264" cy="359359"/>
          </a:xfrm>
          <a:prstGeom prst="rect">
            <a:avLst/>
          </a:prstGeom>
        </p:spPr>
      </p:pic>
      <p:sp>
        <p:nvSpPr>
          <p:cNvPr id="9" name="Text 6"/>
          <p:cNvSpPr/>
          <p:nvPr/>
        </p:nvSpPr>
        <p:spPr>
          <a:xfrm>
            <a:off x="566928" y="438912"/>
            <a:ext cx="9866376" cy="256032"/>
          </a:xfrm>
          <a:prstGeom prst="rect">
            <a:avLst/>
          </a:prstGeom>
          <a:noFill/>
          <a:ln/>
        </p:spPr>
        <p:txBody>
          <a:bodyPr wrap="square" lIns="0" tIns="0" rIns="0" bIns="0" rtlCol="0" anchor="ctr"/>
          <a:lstStyle/>
          <a:p>
            <a:pPr marL="0" indent="0">
              <a:buNone/>
            </a:pPr>
            <a:r>
              <a:rPr lang="en-US" sz="1150" b="1" kern="0" spc="160" dirty="0">
                <a:solidFill>
                  <a:srgbClr val="FFF200"/>
                </a:solidFill>
                <a:latin typeface="Arial" pitchFamily="34" charset="0"/>
                <a:ea typeface="Arial" pitchFamily="34" charset="-122"/>
                <a:cs typeface="Arial" pitchFamily="34" charset="-120"/>
              </a:rPr>
              <a:t>TROUBLESHOOTING &amp; RECAP</a:t>
            </a:r>
            <a:endParaRPr lang="en-US" sz="1150" dirty="0"/>
          </a:p>
        </p:txBody>
      </p:sp>
      <p:sp>
        <p:nvSpPr>
          <p:cNvPr id="10" name="Text 7"/>
          <p:cNvSpPr/>
          <p:nvPr/>
        </p:nvSpPr>
        <p:spPr>
          <a:xfrm>
            <a:off x="566928" y="731520"/>
            <a:ext cx="9866376" cy="512064"/>
          </a:xfrm>
          <a:prstGeom prst="rect">
            <a:avLst/>
          </a:prstGeom>
          <a:noFill/>
          <a:ln/>
        </p:spPr>
        <p:txBody>
          <a:bodyPr wrap="square" lIns="0" tIns="0" rIns="0" bIns="0" rtlCol="0" anchor="t"/>
          <a:lstStyle/>
          <a:p>
            <a:pPr marL="0" indent="0">
              <a:buNone/>
            </a:pPr>
            <a:r>
              <a:rPr lang="en-US" sz="2800" b="1" dirty="0">
                <a:solidFill>
                  <a:srgbClr val="FFFFFF"/>
                </a:solidFill>
                <a:latin typeface="Arial" pitchFamily="34" charset="0"/>
                <a:ea typeface="Arial" pitchFamily="34" charset="-122"/>
                <a:cs typeface="Arial" pitchFamily="34" charset="-120"/>
              </a:rPr>
              <a:t>#N/A is not a disaster</a:t>
            </a:r>
            <a:endParaRPr lang="en-US" sz="2800" dirty="0"/>
          </a:p>
        </p:txBody>
      </p:sp>
      <p:sp>
        <p:nvSpPr>
          <p:cNvPr id="11" name="Text 8"/>
          <p:cNvSpPr/>
          <p:nvPr/>
        </p:nvSpPr>
        <p:spPr>
          <a:xfrm>
            <a:off x="566928" y="1298448"/>
            <a:ext cx="6583680" cy="292608"/>
          </a:xfrm>
          <a:prstGeom prst="rect">
            <a:avLst/>
          </a:prstGeom>
          <a:noFill/>
          <a:ln/>
        </p:spPr>
        <p:txBody>
          <a:bodyPr wrap="square" lIns="0" tIns="0" rIns="0" bIns="0" rtlCol="0" anchor="ctr"/>
          <a:lstStyle/>
          <a:p>
            <a:pPr marL="0" indent="0">
              <a:buNone/>
            </a:pPr>
            <a:r>
              <a:rPr lang="en-US" sz="1400" dirty="0">
                <a:solidFill>
                  <a:srgbClr val="B4C0C5"/>
                </a:solidFill>
                <a:latin typeface="Arial" pitchFamily="34" charset="0"/>
                <a:ea typeface="Arial" pitchFamily="34" charset="-122"/>
                <a:cs typeface="Arial" pitchFamily="34" charset="-120"/>
              </a:rPr>
              <a:t>It only means Excel could not find your value in the table.</a:t>
            </a:r>
            <a:endParaRPr lang="en-US" sz="1400" dirty="0"/>
          </a:p>
        </p:txBody>
      </p:sp>
      <p:pic>
        <p:nvPicPr>
          <p:cNvPr id="12" name="Image 1" descr="C:/Users/Hemendra/Projects/alight-vlookup-hlookup-deck/assets/h_errors.png"/>
          <p:cNvPicPr>
            <a:picLocks noChangeAspect="1"/>
          </p:cNvPicPr>
          <p:nvPr/>
        </p:nvPicPr>
        <p:blipFill>
          <a:blip r:embed="rId4"/>
          <a:stretch>
            <a:fillRect/>
          </a:stretch>
        </p:blipFill>
        <p:spPr>
          <a:xfrm>
            <a:off x="566928" y="1773936"/>
            <a:ext cx="6675120" cy="3101230"/>
          </a:xfrm>
          <a:prstGeom prst="rect">
            <a:avLst/>
          </a:prstGeom>
        </p:spPr>
      </p:pic>
      <p:sp>
        <p:nvSpPr>
          <p:cNvPr id="13" name="Text 9"/>
          <p:cNvSpPr/>
          <p:nvPr/>
        </p:nvSpPr>
        <p:spPr>
          <a:xfrm>
            <a:off x="566928" y="5047488"/>
            <a:ext cx="6675120" cy="384048"/>
          </a:xfrm>
          <a:prstGeom prst="rect">
            <a:avLst/>
          </a:prstGeom>
          <a:noFill/>
          <a:ln/>
        </p:spPr>
        <p:txBody>
          <a:bodyPr wrap="square" lIns="0" tIns="0" rIns="0" bIns="0" rtlCol="0" anchor="t"/>
          <a:lstStyle/>
          <a:p>
            <a:pPr marL="0" indent="0">
              <a:lnSpc>
                <a:spcPct val="110000"/>
              </a:lnSpc>
              <a:buNone/>
            </a:pPr>
            <a:r>
              <a:rPr lang="en-US" sz="1100" dirty="0">
                <a:solidFill>
                  <a:srgbClr val="8FA0A6"/>
                </a:solidFill>
                <a:latin typeface="Arial" pitchFamily="34" charset="0"/>
                <a:ea typeface="Arial" pitchFamily="34" charset="-122"/>
                <a:cs typeface="Arial" pitchFamily="34" charset="-120"/>
              </a:rPr>
              <a:t>An ID that is not in the list  ·  a spelling mistake  ·  a hidden extra space  ·  a table range that misses rows</a:t>
            </a:r>
            <a:endParaRPr lang="en-US" sz="1100" dirty="0"/>
          </a:p>
        </p:txBody>
      </p:sp>
      <p:sp>
        <p:nvSpPr>
          <p:cNvPr id="14" name="Shape 10"/>
          <p:cNvSpPr/>
          <p:nvPr/>
        </p:nvSpPr>
        <p:spPr>
          <a:xfrm>
            <a:off x="7498080" y="1773936"/>
            <a:ext cx="4123944" cy="3639312"/>
          </a:xfrm>
          <a:prstGeom prst="roundRect">
            <a:avLst>
              <a:gd name="adj" fmla="val 4020"/>
            </a:avLst>
          </a:prstGeom>
          <a:solidFill>
            <a:srgbClr val="122A34"/>
          </a:solidFill>
          <a:ln w="12700">
            <a:solidFill>
              <a:srgbClr val="2F4149"/>
            </a:solidFill>
            <a:prstDash val="solid"/>
          </a:ln>
        </p:spPr>
      </p:sp>
      <p:sp>
        <p:nvSpPr>
          <p:cNvPr id="15" name="Text 11"/>
          <p:cNvSpPr/>
          <p:nvPr/>
        </p:nvSpPr>
        <p:spPr>
          <a:xfrm>
            <a:off x="7754112" y="1956816"/>
            <a:ext cx="3611880" cy="237744"/>
          </a:xfrm>
          <a:prstGeom prst="rect">
            <a:avLst/>
          </a:prstGeom>
          <a:noFill/>
          <a:ln/>
        </p:spPr>
        <p:txBody>
          <a:bodyPr wrap="square" lIns="0" tIns="0" rIns="0" bIns="0" rtlCol="0" anchor="ctr"/>
          <a:lstStyle/>
          <a:p>
            <a:pPr marL="0" indent="0">
              <a:buNone/>
            </a:pPr>
            <a:r>
              <a:rPr lang="en-US" sz="1050" b="1" kern="0" spc="140" dirty="0">
                <a:solidFill>
                  <a:srgbClr val="FFF200"/>
                </a:solidFill>
                <a:latin typeface="Arial" pitchFamily="34" charset="0"/>
                <a:ea typeface="Arial" pitchFamily="34" charset="-122"/>
                <a:cs typeface="Arial" pitchFamily="34" charset="-120"/>
              </a:rPr>
              <a:t>FOUR RULES TO REMEMBER</a:t>
            </a:r>
            <a:endParaRPr lang="en-US" sz="1050" dirty="0"/>
          </a:p>
        </p:txBody>
      </p:sp>
      <p:sp>
        <p:nvSpPr>
          <p:cNvPr id="16" name="Shape 12"/>
          <p:cNvSpPr/>
          <p:nvPr/>
        </p:nvSpPr>
        <p:spPr>
          <a:xfrm>
            <a:off x="7754112" y="2350008"/>
            <a:ext cx="237744" cy="237744"/>
          </a:xfrm>
          <a:prstGeom prst="ellipse">
            <a:avLst/>
          </a:prstGeom>
          <a:solidFill>
            <a:srgbClr val="FFF200"/>
          </a:solidFill>
          <a:ln w="12700">
            <a:solidFill>
              <a:srgbClr val="FFF200"/>
            </a:solidFill>
            <a:prstDash val="solid"/>
          </a:ln>
        </p:spPr>
      </p:sp>
      <p:sp>
        <p:nvSpPr>
          <p:cNvPr id="17" name="Text 13"/>
          <p:cNvSpPr/>
          <p:nvPr/>
        </p:nvSpPr>
        <p:spPr>
          <a:xfrm>
            <a:off x="7754112" y="2350008"/>
            <a:ext cx="237744" cy="237744"/>
          </a:xfrm>
          <a:prstGeom prst="rect">
            <a:avLst/>
          </a:prstGeom>
          <a:noFill/>
          <a:ln/>
        </p:spPr>
        <p:txBody>
          <a:bodyPr wrap="square" lIns="0" tIns="0" rIns="0" bIns="0" rtlCol="0" anchor="ctr"/>
          <a:lstStyle/>
          <a:p>
            <a:pPr marL="0" indent="0" algn="ctr">
              <a:buNone/>
            </a:pPr>
            <a:r>
              <a:rPr lang="en-US" sz="1150" b="1" dirty="0">
                <a:solidFill>
                  <a:srgbClr val="0A2029"/>
                </a:solidFill>
                <a:latin typeface="Arial" pitchFamily="34" charset="0"/>
                <a:ea typeface="Arial" pitchFamily="34" charset="-122"/>
                <a:cs typeface="Arial" pitchFamily="34" charset="-120"/>
              </a:rPr>
              <a:t>1</a:t>
            </a:r>
            <a:endParaRPr lang="en-US" sz="1150" dirty="0"/>
          </a:p>
        </p:txBody>
      </p:sp>
      <p:sp>
        <p:nvSpPr>
          <p:cNvPr id="18" name="Text 14"/>
          <p:cNvSpPr/>
          <p:nvPr/>
        </p:nvSpPr>
        <p:spPr>
          <a:xfrm>
            <a:off x="8101584" y="2322576"/>
            <a:ext cx="3310128" cy="694944"/>
          </a:xfrm>
          <a:prstGeom prst="rect">
            <a:avLst/>
          </a:prstGeom>
          <a:noFill/>
          <a:ln/>
        </p:spPr>
        <p:txBody>
          <a:bodyPr wrap="square" lIns="0" tIns="0" rIns="0" bIns="0" rtlCol="0" anchor="t"/>
          <a:lstStyle/>
          <a:p>
            <a:pPr marL="0" indent="0">
              <a:lnSpc>
                <a:spcPct val="110000"/>
              </a:lnSpc>
              <a:buNone/>
            </a:pPr>
            <a:r>
              <a:rPr lang="en-US" sz="1150" dirty="0">
                <a:solidFill>
                  <a:srgbClr val="FFFFFF"/>
                </a:solidFill>
                <a:latin typeface="Arial" pitchFamily="34" charset="0"/>
                <a:ea typeface="Arial" pitchFamily="34" charset="-122"/>
                <a:cs typeface="Arial" pitchFamily="34" charset="-120"/>
              </a:rPr>
              <a:t>The matching column must be on the LEFT of the table.</a:t>
            </a:r>
            <a:endParaRPr lang="en-US" sz="1150" dirty="0"/>
          </a:p>
        </p:txBody>
      </p:sp>
      <p:sp>
        <p:nvSpPr>
          <p:cNvPr id="19" name="Shape 15"/>
          <p:cNvSpPr/>
          <p:nvPr/>
        </p:nvSpPr>
        <p:spPr>
          <a:xfrm>
            <a:off x="7754112" y="3108960"/>
            <a:ext cx="237744" cy="237744"/>
          </a:xfrm>
          <a:prstGeom prst="ellipse">
            <a:avLst/>
          </a:prstGeom>
          <a:solidFill>
            <a:srgbClr val="FFF200"/>
          </a:solidFill>
          <a:ln w="12700">
            <a:solidFill>
              <a:srgbClr val="FFF200"/>
            </a:solidFill>
            <a:prstDash val="solid"/>
          </a:ln>
        </p:spPr>
      </p:sp>
      <p:sp>
        <p:nvSpPr>
          <p:cNvPr id="20" name="Text 16"/>
          <p:cNvSpPr/>
          <p:nvPr/>
        </p:nvSpPr>
        <p:spPr>
          <a:xfrm>
            <a:off x="7754112" y="3108960"/>
            <a:ext cx="237744" cy="237744"/>
          </a:xfrm>
          <a:prstGeom prst="rect">
            <a:avLst/>
          </a:prstGeom>
          <a:noFill/>
          <a:ln/>
        </p:spPr>
        <p:txBody>
          <a:bodyPr wrap="square" lIns="0" tIns="0" rIns="0" bIns="0" rtlCol="0" anchor="ctr"/>
          <a:lstStyle/>
          <a:p>
            <a:pPr marL="0" indent="0" algn="ctr">
              <a:buNone/>
            </a:pPr>
            <a:r>
              <a:rPr lang="en-US" sz="1150" b="1" dirty="0">
                <a:solidFill>
                  <a:srgbClr val="0A2029"/>
                </a:solidFill>
                <a:latin typeface="Arial" pitchFamily="34" charset="0"/>
                <a:ea typeface="Arial" pitchFamily="34" charset="-122"/>
                <a:cs typeface="Arial" pitchFamily="34" charset="-120"/>
              </a:rPr>
              <a:t>2</a:t>
            </a:r>
            <a:endParaRPr lang="en-US" sz="1150" dirty="0"/>
          </a:p>
        </p:txBody>
      </p:sp>
      <p:sp>
        <p:nvSpPr>
          <p:cNvPr id="21" name="Text 17"/>
          <p:cNvSpPr/>
          <p:nvPr/>
        </p:nvSpPr>
        <p:spPr>
          <a:xfrm>
            <a:off x="8101584" y="3081528"/>
            <a:ext cx="3310128" cy="694944"/>
          </a:xfrm>
          <a:prstGeom prst="rect">
            <a:avLst/>
          </a:prstGeom>
          <a:noFill/>
          <a:ln/>
        </p:spPr>
        <p:txBody>
          <a:bodyPr wrap="square" lIns="0" tIns="0" rIns="0" bIns="0" rtlCol="0" anchor="t"/>
          <a:lstStyle/>
          <a:p>
            <a:pPr marL="0" indent="0">
              <a:lnSpc>
                <a:spcPct val="110000"/>
              </a:lnSpc>
              <a:buNone/>
            </a:pPr>
            <a:r>
              <a:rPr lang="en-US" sz="1150" dirty="0">
                <a:solidFill>
                  <a:srgbClr val="FFFFFF"/>
                </a:solidFill>
                <a:latin typeface="Arial" pitchFamily="34" charset="0"/>
                <a:ea typeface="Arial" pitchFamily="34" charset="-122"/>
                <a:cs typeface="Arial" pitchFamily="34" charset="-120"/>
              </a:rPr>
              <a:t>Column numbers count from the first column of the table.</a:t>
            </a:r>
            <a:endParaRPr lang="en-US" sz="1150" dirty="0"/>
          </a:p>
        </p:txBody>
      </p:sp>
      <p:sp>
        <p:nvSpPr>
          <p:cNvPr id="22" name="Shape 18"/>
          <p:cNvSpPr/>
          <p:nvPr/>
        </p:nvSpPr>
        <p:spPr>
          <a:xfrm>
            <a:off x="7754112" y="3867912"/>
            <a:ext cx="237744" cy="237744"/>
          </a:xfrm>
          <a:prstGeom prst="ellipse">
            <a:avLst/>
          </a:prstGeom>
          <a:solidFill>
            <a:srgbClr val="FFF200"/>
          </a:solidFill>
          <a:ln w="12700">
            <a:solidFill>
              <a:srgbClr val="FFF200"/>
            </a:solidFill>
            <a:prstDash val="solid"/>
          </a:ln>
        </p:spPr>
      </p:sp>
      <p:sp>
        <p:nvSpPr>
          <p:cNvPr id="23" name="Text 19"/>
          <p:cNvSpPr/>
          <p:nvPr/>
        </p:nvSpPr>
        <p:spPr>
          <a:xfrm>
            <a:off x="7754112" y="3867912"/>
            <a:ext cx="237744" cy="237744"/>
          </a:xfrm>
          <a:prstGeom prst="rect">
            <a:avLst/>
          </a:prstGeom>
          <a:noFill/>
          <a:ln/>
        </p:spPr>
        <p:txBody>
          <a:bodyPr wrap="square" lIns="0" tIns="0" rIns="0" bIns="0" rtlCol="0" anchor="ctr"/>
          <a:lstStyle/>
          <a:p>
            <a:pPr marL="0" indent="0" algn="ctr">
              <a:buNone/>
            </a:pPr>
            <a:r>
              <a:rPr lang="en-US" sz="1150" b="1" dirty="0">
                <a:solidFill>
                  <a:srgbClr val="0A2029"/>
                </a:solidFill>
                <a:latin typeface="Arial" pitchFamily="34" charset="0"/>
                <a:ea typeface="Arial" pitchFamily="34" charset="-122"/>
                <a:cs typeface="Arial" pitchFamily="34" charset="-120"/>
              </a:rPr>
              <a:t>3</a:t>
            </a:r>
            <a:endParaRPr lang="en-US" sz="1150" dirty="0"/>
          </a:p>
        </p:txBody>
      </p:sp>
      <p:sp>
        <p:nvSpPr>
          <p:cNvPr id="24" name="Text 20"/>
          <p:cNvSpPr/>
          <p:nvPr/>
        </p:nvSpPr>
        <p:spPr>
          <a:xfrm>
            <a:off x="8101584" y="3840480"/>
            <a:ext cx="3310128" cy="694944"/>
          </a:xfrm>
          <a:prstGeom prst="rect">
            <a:avLst/>
          </a:prstGeom>
          <a:noFill/>
          <a:ln/>
        </p:spPr>
        <p:txBody>
          <a:bodyPr wrap="square" lIns="0" tIns="0" rIns="0" bIns="0" rtlCol="0" anchor="t"/>
          <a:lstStyle/>
          <a:p>
            <a:pPr marL="0" indent="0">
              <a:lnSpc>
                <a:spcPct val="110000"/>
              </a:lnSpc>
              <a:buNone/>
            </a:pPr>
            <a:r>
              <a:rPr lang="en-US" sz="1150" dirty="0">
                <a:solidFill>
                  <a:srgbClr val="FFFFFF"/>
                </a:solidFill>
                <a:latin typeface="Arial" pitchFamily="34" charset="0"/>
                <a:ea typeface="Arial" pitchFamily="34" charset="-122"/>
                <a:cs typeface="Arial" pitchFamily="34" charset="-120"/>
              </a:rPr>
              <a:t>Always end the formula with FALSE for an exact match.</a:t>
            </a:r>
            <a:endParaRPr lang="en-US" sz="1150" dirty="0"/>
          </a:p>
        </p:txBody>
      </p:sp>
      <p:sp>
        <p:nvSpPr>
          <p:cNvPr id="25" name="Shape 21"/>
          <p:cNvSpPr/>
          <p:nvPr/>
        </p:nvSpPr>
        <p:spPr>
          <a:xfrm>
            <a:off x="7754112" y="4626864"/>
            <a:ext cx="237744" cy="237744"/>
          </a:xfrm>
          <a:prstGeom prst="ellipse">
            <a:avLst/>
          </a:prstGeom>
          <a:solidFill>
            <a:srgbClr val="FFF200"/>
          </a:solidFill>
          <a:ln w="12700">
            <a:solidFill>
              <a:srgbClr val="FFF200"/>
            </a:solidFill>
            <a:prstDash val="solid"/>
          </a:ln>
        </p:spPr>
      </p:sp>
      <p:sp>
        <p:nvSpPr>
          <p:cNvPr id="26" name="Text 22"/>
          <p:cNvSpPr/>
          <p:nvPr/>
        </p:nvSpPr>
        <p:spPr>
          <a:xfrm>
            <a:off x="7754112" y="4626864"/>
            <a:ext cx="237744" cy="237744"/>
          </a:xfrm>
          <a:prstGeom prst="rect">
            <a:avLst/>
          </a:prstGeom>
          <a:noFill/>
          <a:ln/>
        </p:spPr>
        <p:txBody>
          <a:bodyPr wrap="square" lIns="0" tIns="0" rIns="0" bIns="0" rtlCol="0" anchor="ctr"/>
          <a:lstStyle/>
          <a:p>
            <a:pPr marL="0" indent="0" algn="ctr">
              <a:buNone/>
            </a:pPr>
            <a:r>
              <a:rPr lang="en-US" sz="1150" b="1" dirty="0">
                <a:solidFill>
                  <a:srgbClr val="0A2029"/>
                </a:solidFill>
                <a:latin typeface="Arial" pitchFamily="34" charset="0"/>
                <a:ea typeface="Arial" pitchFamily="34" charset="-122"/>
                <a:cs typeface="Arial" pitchFamily="34" charset="-120"/>
              </a:rPr>
              <a:t>4</a:t>
            </a:r>
            <a:endParaRPr lang="en-US" sz="1150" dirty="0"/>
          </a:p>
        </p:txBody>
      </p:sp>
      <p:sp>
        <p:nvSpPr>
          <p:cNvPr id="27" name="Text 23"/>
          <p:cNvSpPr/>
          <p:nvPr/>
        </p:nvSpPr>
        <p:spPr>
          <a:xfrm>
            <a:off x="8101584" y="4599432"/>
            <a:ext cx="3310128" cy="694944"/>
          </a:xfrm>
          <a:prstGeom prst="rect">
            <a:avLst/>
          </a:prstGeom>
          <a:noFill/>
          <a:ln/>
        </p:spPr>
        <p:txBody>
          <a:bodyPr wrap="square" lIns="0" tIns="0" rIns="0" bIns="0" rtlCol="0" anchor="t"/>
          <a:lstStyle/>
          <a:p>
            <a:pPr marL="0" indent="0">
              <a:lnSpc>
                <a:spcPct val="110000"/>
              </a:lnSpc>
              <a:buNone/>
            </a:pPr>
            <a:r>
              <a:rPr lang="en-US" sz="1150" dirty="0">
                <a:solidFill>
                  <a:srgbClr val="FFFFFF"/>
                </a:solidFill>
                <a:latin typeface="Arial" pitchFamily="34" charset="0"/>
                <a:ea typeface="Arial" pitchFamily="34" charset="-122"/>
                <a:cs typeface="Arial" pitchFamily="34" charset="-120"/>
              </a:rPr>
              <a:t>Lock the table range with $ signs before you copy the formula.</a:t>
            </a:r>
            <a:endParaRPr lang="en-US" sz="1150" dirty="0"/>
          </a:p>
        </p:txBody>
      </p:sp>
      <p:sp>
        <p:nvSpPr>
          <p:cNvPr id="28" name="Text 24"/>
          <p:cNvSpPr/>
          <p:nvPr/>
        </p:nvSpPr>
        <p:spPr>
          <a:xfrm>
            <a:off x="566928" y="5614416"/>
            <a:ext cx="7680960" cy="310896"/>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Thank you.  </a:t>
            </a:r>
            <a:r>
              <a:rPr lang="en-US" sz="1300" dirty="0">
                <a:solidFill>
                  <a:srgbClr val="9FB0B6"/>
                </a:solidFill>
                <a:latin typeface="Arial" pitchFamily="34" charset="0"/>
                <a:ea typeface="Arial" pitchFamily="34" charset="-122"/>
                <a:cs typeface="Arial" pitchFamily="34" charset="-120"/>
              </a:rPr>
              <a:t>Questions? I am happy to walk through your own sheet with you.</a:t>
            </a:r>
            <a:endParaRPr lang="en-US" sz="1500" dirty="0"/>
          </a:p>
        </p:txBody>
      </p:sp>
      <p:sp>
        <p:nvSpPr>
          <p:cNvPr id="29" name="Text 25"/>
          <p:cNvSpPr/>
          <p:nvPr/>
        </p:nvSpPr>
        <p:spPr>
          <a:xfrm>
            <a:off x="566928" y="5980176"/>
            <a:ext cx="7680960" cy="274320"/>
          </a:xfrm>
          <a:prstGeom prst="rect">
            <a:avLst/>
          </a:prstGeom>
          <a:noFill/>
          <a:ln/>
        </p:spPr>
        <p:txBody>
          <a:bodyPr wrap="square" lIns="0" tIns="0" rIns="0" bIns="0" rtlCol="0" anchor="ctr"/>
          <a:lstStyle/>
          <a:p>
            <a:pPr marL="0" indent="0">
              <a:buNone/>
            </a:pPr>
            <a:r>
              <a:rPr lang="en-US" sz="1200" b="1" dirty="0">
                <a:solidFill>
                  <a:srgbClr val="FFF200"/>
                </a:solidFill>
                <a:latin typeface="Arial" pitchFamily="34" charset="0"/>
                <a:ea typeface="Arial" pitchFamily="34" charset="-122"/>
                <a:cs typeface="Arial" pitchFamily="34" charset="-120"/>
              </a:rPr>
              <a:t>Subhra Singh  ·  Quality Team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1308</Words>
  <Application>Microsoft Office PowerPoint</Application>
  <PresentationFormat>Widescreen</PresentationFormat>
  <Paragraphs>106</Paragraphs>
  <Slides>10</Slides>
  <Notes>10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10</vt:i4>
      </vt:variant>
    </vt:vector>
  </HeadingPairs>
  <TitlesOfParts>
    <vt:vector size="1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Alight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VLOOKUP &amp; HLOOKUP in Excel</dc:title>
  <dc:subject>Excel lookup functions, step-by-step training</dc:subject>
  <dc:creator>Subhra Singh</dc:creator>
  <cp:lastModifiedBy>Hemendra Singh Tanwer</cp:lastModifiedBy>
  <cp:revision>2</cp:revision>
  <dcterms:created xsi:type="dcterms:W3CDTF">2026-09-15T09:22:12Z</dcterms:created>
  <dcterms:modified xsi:type="dcterms:W3CDTF">2026-09-15T10:01:08Z</dcterms:modified>
</cp:coreProperties>
</file>