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 Mono Medium"/>
      <p:regular r:id="rId10"/>
      <p:bold r:id="rId11"/>
      <p:italic r:id="rId12"/>
      <p:boldItalic r:id="rId13"/>
    </p:embeddedFont>
    <p:embeddedFont>
      <p:font typeface="Inter SemiBold"/>
      <p:regular r:id="rId14"/>
      <p:bold r:id="rId15"/>
      <p:italic r:id="rId16"/>
      <p:boldItalic r:id="rId17"/>
    </p:embeddedFont>
    <p:embeddedFont>
      <p:font typeface="Nunito"/>
      <p:regular r:id="rId18"/>
      <p:bold r:id="rId19"/>
      <p:italic r:id="rId20"/>
      <p:boldItalic r:id="rId21"/>
    </p:embeddedFont>
    <p:embeddedFont>
      <p:font typeface="Inter"/>
      <p:bold r:id="rId22"/>
      <p:boldItalic r:id="rId23"/>
    </p:embeddedFont>
    <p:embeddedFont>
      <p:font typeface="Inter ExtraBold"/>
      <p:bold r:id="rId24"/>
      <p:boldItalic r:id="rId25"/>
    </p:embeddedFont>
    <p:embeddedFont>
      <p:font typeface="Roboto Mono"/>
      <p:bold r:id="rId26"/>
      <p:boldItalic r:id="rId27"/>
    </p:embeddedFont>
    <p:embeddedFont>
      <p:font typeface="Inter Medium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italic.fntdata"/><Relationship Id="rId22" Type="http://schemas.openxmlformats.org/officeDocument/2006/relationships/font" Target="fonts/Inter-bold.fntdata"/><Relationship Id="rId21" Type="http://schemas.openxmlformats.org/officeDocument/2006/relationships/font" Target="fonts/Nunito-boldItalic.fntdata"/><Relationship Id="rId24" Type="http://schemas.openxmlformats.org/officeDocument/2006/relationships/font" Target="fonts/InterExtraBold-bold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InterExtraBold-boldItalic.fntdata"/><Relationship Id="rId28" Type="http://schemas.openxmlformats.org/officeDocument/2006/relationships/font" Target="fonts/InterMedium-regular.fntdata"/><Relationship Id="rId27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boldItalic.fntdata"/><Relationship Id="rId30" Type="http://schemas.openxmlformats.org/officeDocument/2006/relationships/font" Target="fonts/InterMedium-italic.fntdata"/><Relationship Id="rId11" Type="http://schemas.openxmlformats.org/officeDocument/2006/relationships/font" Target="fonts/RobotoMonoMedium-bold.fntdata"/><Relationship Id="rId10" Type="http://schemas.openxmlformats.org/officeDocument/2006/relationships/font" Target="fonts/RobotoMonoMedium-regular.fntdata"/><Relationship Id="rId13" Type="http://schemas.openxmlformats.org/officeDocument/2006/relationships/font" Target="fonts/RobotoMonoMedium-boldItalic.fntdata"/><Relationship Id="rId12" Type="http://schemas.openxmlformats.org/officeDocument/2006/relationships/font" Target="fonts/RobotoMonoMedium-italic.fntdata"/><Relationship Id="rId15" Type="http://schemas.openxmlformats.org/officeDocument/2006/relationships/font" Target="fonts/InterSemiBold-bold.fntdata"/><Relationship Id="rId14" Type="http://schemas.openxmlformats.org/officeDocument/2006/relationships/font" Target="fonts/InterSemiBold-regular.fntdata"/><Relationship Id="rId17" Type="http://schemas.openxmlformats.org/officeDocument/2006/relationships/font" Target="fonts/InterSemiBold-boldItalic.fntdata"/><Relationship Id="rId16" Type="http://schemas.openxmlformats.org/officeDocument/2006/relationships/font" Target="fonts/InterSemiBold-italic.fntdata"/><Relationship Id="rId19" Type="http://schemas.openxmlformats.org/officeDocument/2006/relationships/font" Target="fonts/Nunito-bold.fntdata"/><Relationship Id="rId18" Type="http://schemas.openxmlformats.org/officeDocument/2006/relationships/font" Target="fonts/Nuni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b5e1f5c86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b5e1f5c86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b5e1f5c86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b5e1f5c86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b5e1f5c86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b5e1f5c86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b5e1f5c86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b5e1f5c86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b5e1f5c86_14_0)">
  <p:cSld name="Generated (g3fb5e1f5c86_14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3991" cy="5143500"/>
            <a:chOff x="0" y="0"/>
            <a:chExt cx="9024863" cy="51435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3810000" cy="5143500"/>
            </a:xfrm>
            <a:prstGeom prst="rect">
              <a:avLst/>
            </a:prstGeom>
            <a:solidFill>
              <a:srgbClr val="FCF40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7" name="Google Shape;57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14763" y="4763"/>
              <a:ext cx="5210100" cy="5057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" name="Google Shape;58;p14"/>
          <p:cNvSpPr txBox="1"/>
          <p:nvPr/>
        </p:nvSpPr>
        <p:spPr>
          <a:xfrm>
            <a:off x="4267200" y="1524000"/>
            <a:ext cx="44196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Backend Operations Training</a:t>
            </a:r>
            <a:endParaRPr b="1" sz="11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11182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VLOOKUP &amp; HLOOKUP</a:t>
            </a:r>
            <a:endParaRPr b="0" sz="3200">
              <a:solidFill>
                <a:srgbClr val="111827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Essentials</a:t>
            </a:r>
            <a:endParaRPr b="1" sz="32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Master data retrieval efficiency in backend workflows.</a:t>
            </a:r>
            <a:endParaRPr b="0" sz="1800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9" name="Google Shape;5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3775" y="2361714"/>
            <a:ext cx="1133175" cy="420075"/>
          </a:xfrm>
          <a:prstGeom prst="rect">
            <a:avLst/>
          </a:prstGeom>
          <a:solidFill>
            <a:srgbClr val="FCF404"/>
          </a:solidFill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25799" y="2966697"/>
            <a:ext cx="1592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BY: SUBHRA SINGH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alight_logo_rgb_yellow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173" l="0" r="0" t="5182"/>
          <a:stretch/>
        </p:blipFill>
        <p:spPr>
          <a:xfrm>
            <a:off x="8028050" y="251575"/>
            <a:ext cx="923100" cy="3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FCF40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457200" y="342900"/>
            <a:ext cx="72315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40">
                <a:solidFill>
                  <a:srgbClr val="11182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Master Vertical Searches for Backend Databases</a:t>
            </a:r>
            <a:endParaRPr b="0" sz="2240">
              <a:solidFill>
                <a:srgbClr val="111827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1200"/>
              </a:spcAft>
              <a:buNone/>
            </a:pPr>
            <a:r>
              <a:rPr b="0" lang="en" sz="126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Understand the mechanics of vertical data retrieval to streamline database queries.</a:t>
            </a:r>
            <a:endParaRPr b="0" sz="1260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68" name="Google Shape;68;p15"/>
          <p:cNvGrpSpPr/>
          <p:nvPr/>
        </p:nvGrpSpPr>
        <p:grpSpPr>
          <a:xfrm>
            <a:off x="457200" y="1219200"/>
            <a:ext cx="8229600" cy="571500"/>
            <a:chOff x="0" y="0"/>
            <a:chExt cx="8229600" cy="571500"/>
          </a:xfrm>
        </p:grpSpPr>
        <p:sp>
          <p:nvSpPr>
            <p:cNvPr id="69" name="Google Shape;69;p15"/>
            <p:cNvSpPr/>
            <p:nvPr/>
          </p:nvSpPr>
          <p:spPr>
            <a:xfrm>
              <a:off x="0" y="0"/>
              <a:ext cx="8229600" cy="571500"/>
            </a:xfrm>
            <a:prstGeom prst="roundRect">
              <a:avLst>
                <a:gd fmla="val 6666" name="adj"/>
              </a:avLst>
            </a:prstGeom>
            <a:solidFill>
              <a:srgbClr val="1F29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0" y="0"/>
              <a:ext cx="76200" cy="571500"/>
            </a:xfrm>
            <a:prstGeom prst="roundRect">
              <a:avLst>
                <a:gd fmla="val 50000" name="adj"/>
              </a:avLst>
            </a:prstGeom>
            <a:solidFill>
              <a:srgbClr val="FCF40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 txBox="1"/>
            <p:nvPr/>
          </p:nvSpPr>
          <p:spPr>
            <a:xfrm>
              <a:off x="228600" y="0"/>
              <a:ext cx="7848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CF404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• Syntax Breakdown:</a:t>
              </a:r>
              <a:r>
                <a:rPr b="0" lang="en" sz="1300">
                  <a:solidFill>
                    <a:srgbClr val="F3F4F6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 =VLOOKUP(lookup_value, table_array, col_index_num, [range_lookup])</a:t>
              </a:r>
              <a:endParaRPr b="0" sz="1300">
                <a:solidFill>
                  <a:srgbClr val="F3F4F6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  <p:grpSp>
        <p:nvGrpSpPr>
          <p:cNvPr id="72" name="Google Shape;72;p15"/>
          <p:cNvGrpSpPr/>
          <p:nvPr/>
        </p:nvGrpSpPr>
        <p:grpSpPr>
          <a:xfrm>
            <a:off x="495300" y="1981200"/>
            <a:ext cx="4533900" cy="2781300"/>
            <a:chOff x="38100" y="0"/>
            <a:chExt cx="4533900" cy="2781300"/>
          </a:xfrm>
        </p:grpSpPr>
        <p:sp>
          <p:nvSpPr>
            <p:cNvPr id="73" name="Google Shape;73;p15"/>
            <p:cNvSpPr/>
            <p:nvPr/>
          </p:nvSpPr>
          <p:spPr>
            <a:xfrm>
              <a:off x="38100" y="60960"/>
              <a:ext cx="68640" cy="13728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CF40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5"/>
            <p:cNvSpPr txBox="1"/>
            <p:nvPr/>
          </p:nvSpPr>
          <p:spPr>
            <a:xfrm>
              <a:off x="266700" y="0"/>
              <a:ext cx="4305300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Key Parameters:</a:t>
              </a:r>
              <a:endParaRPr b="0" sz="1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600"/>
                </a:spcAft>
                <a:buNone/>
              </a:pPr>
              <a:r>
                <a:rPr b="0" lang="en" sz="12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Define the lookup value, specify the table range, set the column index, and use FALSE for an exact match.</a:t>
              </a:r>
              <a:endParaRPr b="0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38100" y="1394460"/>
              <a:ext cx="68640" cy="13728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FCF40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 txBox="1"/>
            <p:nvPr/>
          </p:nvSpPr>
          <p:spPr>
            <a:xfrm>
              <a:off x="266700" y="1333500"/>
              <a:ext cx="43053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Real-World Scenario:</a:t>
              </a:r>
              <a:endParaRPr b="0" sz="1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600"/>
                </a:spcAft>
                <a:buNone/>
              </a:pPr>
              <a:r>
                <a:rPr b="0" lang="en" sz="12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Quickly retrieve employee details or transaction statuses from a large vertical database table using a unique Employee ID or Order ID.</a:t>
              </a:r>
              <a:endParaRPr b="0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77" name="Google Shape;7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1600" y="1981200"/>
            <a:ext cx="3505200" cy="26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FCF40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7543800" y="304800"/>
            <a:ext cx="952500" cy="3048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16"/>
          <p:cNvGrpSpPr/>
          <p:nvPr/>
        </p:nvGrpSpPr>
        <p:grpSpPr>
          <a:xfrm>
            <a:off x="457200" y="381000"/>
            <a:ext cx="6858000" cy="800100"/>
            <a:chOff x="0" y="0"/>
            <a:chExt cx="6858000" cy="800100"/>
          </a:xfrm>
        </p:grpSpPr>
        <p:sp>
          <p:nvSpPr>
            <p:cNvPr id="86" name="Google Shape;86;p16"/>
            <p:cNvSpPr txBox="1"/>
            <p:nvPr/>
          </p:nvSpPr>
          <p:spPr>
            <a:xfrm>
              <a:off x="0" y="0"/>
              <a:ext cx="68580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2072" u="none" strike="noStrike">
                  <a:solidFill>
                    <a:srgbClr val="11182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Execute Horizontal Searches for Row-Based Data</a:t>
              </a:r>
              <a:endParaRPr b="0" i="0" sz="2072" u="none" strike="noStrike">
                <a:solidFill>
                  <a:srgbClr val="11182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87" name="Google Shape;87;p16"/>
            <p:cNvSpPr txBox="1"/>
            <p:nvPr/>
          </p:nvSpPr>
          <p:spPr>
            <a:xfrm>
              <a:off x="0" y="495300"/>
              <a:ext cx="6858000" cy="3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60" u="none" strike="noStrike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Utilize horizontal search mechanics for wide datasets.</a:t>
              </a:r>
              <a:endParaRPr b="0" i="0" sz="1260" u="none" strike="noStrike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88" name="Google Shape;88;p16"/>
          <p:cNvGrpSpPr/>
          <p:nvPr/>
        </p:nvGrpSpPr>
        <p:grpSpPr>
          <a:xfrm>
            <a:off x="457200" y="1295400"/>
            <a:ext cx="8229600" cy="571500"/>
            <a:chOff x="0" y="0"/>
            <a:chExt cx="8229600" cy="571500"/>
          </a:xfrm>
        </p:grpSpPr>
        <p:sp>
          <p:nvSpPr>
            <p:cNvPr id="89" name="Google Shape;89;p16"/>
            <p:cNvSpPr/>
            <p:nvPr/>
          </p:nvSpPr>
          <p:spPr>
            <a:xfrm>
              <a:off x="0" y="0"/>
              <a:ext cx="8229600" cy="571500"/>
            </a:xfrm>
            <a:prstGeom prst="roundRect">
              <a:avLst>
                <a:gd fmla="val 6666" name="adj"/>
              </a:avLst>
            </a:prstGeom>
            <a:solidFill>
              <a:srgbClr val="1F29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6"/>
            <p:cNvSpPr/>
            <p:nvPr/>
          </p:nvSpPr>
          <p:spPr>
            <a:xfrm>
              <a:off x="0" y="0"/>
              <a:ext cx="76200" cy="571500"/>
            </a:xfrm>
            <a:prstGeom prst="roundRect">
              <a:avLst>
                <a:gd fmla="val 50000" name="adj"/>
              </a:avLst>
            </a:prstGeom>
            <a:solidFill>
              <a:srgbClr val="FCF40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6"/>
            <p:cNvSpPr txBox="1"/>
            <p:nvPr/>
          </p:nvSpPr>
          <p:spPr>
            <a:xfrm>
              <a:off x="228600" y="0"/>
              <a:ext cx="7772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CF40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Syntax Breakdown:</a:t>
              </a:r>
              <a:r>
                <a:rPr b="0" lang="en" sz="1300">
                  <a:solidFill>
                    <a:srgbClr val="F3F4F6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 =HLOOKUP(lookup_value, table_array, row_index_num, [range_lookup])</a:t>
              </a:r>
              <a:endParaRPr b="0" sz="1300">
                <a:solidFill>
                  <a:srgbClr val="F3F4F6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  <p:grpSp>
        <p:nvGrpSpPr>
          <p:cNvPr id="92" name="Google Shape;92;p16"/>
          <p:cNvGrpSpPr/>
          <p:nvPr/>
        </p:nvGrpSpPr>
        <p:grpSpPr>
          <a:xfrm>
            <a:off x="495300" y="2057400"/>
            <a:ext cx="4152900" cy="2628900"/>
            <a:chOff x="38100" y="0"/>
            <a:chExt cx="4152900" cy="2628900"/>
          </a:xfrm>
        </p:grpSpPr>
        <p:grpSp>
          <p:nvGrpSpPr>
            <p:cNvPr id="93" name="Google Shape;93;p16"/>
            <p:cNvGrpSpPr/>
            <p:nvPr/>
          </p:nvGrpSpPr>
          <p:grpSpPr>
            <a:xfrm>
              <a:off x="38100" y="0"/>
              <a:ext cx="4152900" cy="1143000"/>
              <a:chOff x="38100" y="0"/>
              <a:chExt cx="4152900" cy="1143000"/>
            </a:xfrm>
          </p:grpSpPr>
          <p:sp>
            <p:nvSpPr>
              <p:cNvPr id="94" name="Google Shape;94;p16"/>
              <p:cNvSpPr/>
              <p:nvPr/>
            </p:nvSpPr>
            <p:spPr>
              <a:xfrm>
                <a:off x="38100" y="60960"/>
                <a:ext cx="68640" cy="13728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FCF404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6"/>
              <p:cNvSpPr txBox="1"/>
              <p:nvPr/>
            </p:nvSpPr>
            <p:spPr>
              <a:xfrm>
                <a:off x="228600" y="0"/>
                <a:ext cx="39624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Key Parameters:</a:t>
                </a:r>
                <a:r>
                  <a:rPr b="0" lang="en" sz="140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 Define the lookup value, specify the table range, set the row index, and use FALSE for an exact match.</a:t>
                </a:r>
                <a:endParaRPr b="0" sz="14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96" name="Google Shape;96;p16"/>
            <p:cNvGrpSpPr/>
            <p:nvPr/>
          </p:nvGrpSpPr>
          <p:grpSpPr>
            <a:xfrm>
              <a:off x="38100" y="1295400"/>
              <a:ext cx="4152900" cy="1333500"/>
              <a:chOff x="38100" y="0"/>
              <a:chExt cx="4152900" cy="1333500"/>
            </a:xfrm>
          </p:grpSpPr>
          <p:sp>
            <p:nvSpPr>
              <p:cNvPr id="97" name="Google Shape;97;p16"/>
              <p:cNvSpPr/>
              <p:nvPr/>
            </p:nvSpPr>
            <p:spPr>
              <a:xfrm>
                <a:off x="38100" y="60960"/>
                <a:ext cx="68640" cy="13728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FCF404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6"/>
              <p:cNvSpPr txBox="1"/>
              <p:nvPr/>
            </p:nvSpPr>
            <p:spPr>
              <a:xfrm>
                <a:off x="228600" y="0"/>
                <a:ext cx="39624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Real-World Scenario:</a:t>
                </a:r>
                <a:r>
                  <a:rPr b="0" lang="en" sz="140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 Efficiently fetch tax rates, discount tiers, or quarterly metrics that are structured horizontally across row headers.</a:t>
                </a:r>
                <a:endParaRPr b="0" sz="14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pic>
        <p:nvPicPr>
          <p:cNvPr id="99" name="Google Shape;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6800" y="2057400"/>
            <a:ext cx="38100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6" title="alight_logo_rgb_yellow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5173" l="0" r="0" t="5182"/>
          <a:stretch/>
        </p:blipFill>
        <p:spPr>
          <a:xfrm>
            <a:off x="8028050" y="251575"/>
            <a:ext cx="923100" cy="30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06" name="Google Shape;106;p1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7"/>
            <p:cNvSpPr/>
            <p:nvPr/>
          </p:nvSpPr>
          <p:spPr>
            <a:xfrm>
              <a:off x="2667000" y="1428750"/>
              <a:ext cx="76200" cy="3238500"/>
            </a:xfrm>
            <a:prstGeom prst="rect">
              <a:avLst/>
            </a:prstGeom>
            <a:solidFill>
              <a:srgbClr val="FCF40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7543800" y="304800"/>
              <a:ext cx="952500" cy="304800"/>
            </a:xfrm>
            <a:prstGeom prst="roundRect">
              <a:avLst>
                <a:gd fmla="val 125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17"/>
          <p:cNvSpPr txBox="1"/>
          <p:nvPr/>
        </p:nvSpPr>
        <p:spPr>
          <a:xfrm>
            <a:off x="457200" y="381000"/>
            <a:ext cx="6858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960">
                <a:solidFill>
                  <a:srgbClr val="11182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Choose the Right Lookup Tool for Your Data Layout</a:t>
            </a:r>
            <a:endParaRPr b="0" sz="1960">
              <a:solidFill>
                <a:srgbClr val="111827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Align your formula choice with the structural layout of your backend data.</a:t>
            </a:r>
            <a:endParaRPr b="0" sz="1050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110" name="Google Shape;110;p17"/>
          <p:cNvGrpSpPr/>
          <p:nvPr/>
        </p:nvGrpSpPr>
        <p:grpSpPr>
          <a:xfrm>
            <a:off x="457200" y="1428750"/>
            <a:ext cx="2057400" cy="3124200"/>
            <a:chOff x="0" y="0"/>
            <a:chExt cx="2057400" cy="3124200"/>
          </a:xfrm>
        </p:grpSpPr>
        <p:sp>
          <p:nvSpPr>
            <p:cNvPr id="111" name="Google Shape;111;p17"/>
            <p:cNvSpPr txBox="1"/>
            <p:nvPr/>
          </p:nvSpPr>
          <p:spPr>
            <a:xfrm>
              <a:off x="0" y="0"/>
              <a:ext cx="2057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DECISION RULE</a:t>
              </a:r>
              <a:endParaRPr b="1" sz="11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2" name="Google Shape;112;p17"/>
            <p:cNvSpPr/>
            <p:nvPr/>
          </p:nvSpPr>
          <p:spPr>
            <a:xfrm>
              <a:off x="0" y="304800"/>
              <a:ext cx="2057400" cy="19200"/>
            </a:xfrm>
            <a:prstGeom prst="rect">
              <a:avLst/>
            </a:prstGeom>
            <a:solidFill>
              <a:srgbClr val="1118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7"/>
            <p:cNvSpPr txBox="1"/>
            <p:nvPr/>
          </p:nvSpPr>
          <p:spPr>
            <a:xfrm>
              <a:off x="0" y="457200"/>
              <a:ext cx="2057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Evaluate Source Structure</a:t>
              </a:r>
              <a:endParaRPr b="0" sz="13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Always evaluate your source data structure before writing the formula to ensure accurate data retrieval.</a:t>
              </a:r>
              <a:endParaRPr b="0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11827"/>
                  </a:solidFill>
                  <a:highlight>
                    <a:srgbClr val="F4F4F5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Matching orientation prevents formula errors and optimizes backend lookup efficiency.</a:t>
              </a:r>
              <a:endParaRPr b="0" sz="1000">
                <a:solidFill>
                  <a:srgbClr val="111827"/>
                </a:solidFill>
                <a:highlight>
                  <a:srgbClr val="F4F4F5"/>
                </a:highlight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14" name="Google Shape;114;p17"/>
          <p:cNvGrpSpPr/>
          <p:nvPr/>
        </p:nvGrpSpPr>
        <p:grpSpPr>
          <a:xfrm>
            <a:off x="2971800" y="1428750"/>
            <a:ext cx="5524500" cy="3143250"/>
            <a:chOff x="0" y="0"/>
            <a:chExt cx="5524500" cy="3143250"/>
          </a:xfrm>
        </p:grpSpPr>
        <p:grpSp>
          <p:nvGrpSpPr>
            <p:cNvPr id="115" name="Google Shape;115;p17"/>
            <p:cNvGrpSpPr/>
            <p:nvPr/>
          </p:nvGrpSpPr>
          <p:grpSpPr>
            <a:xfrm>
              <a:off x="0" y="0"/>
              <a:ext cx="2667000" cy="2000100"/>
              <a:chOff x="0" y="0"/>
              <a:chExt cx="2667000" cy="2000100"/>
            </a:xfrm>
          </p:grpSpPr>
          <p:sp>
            <p:nvSpPr>
              <p:cNvPr id="116" name="Google Shape;116;p17"/>
              <p:cNvSpPr/>
              <p:nvPr/>
            </p:nvSpPr>
            <p:spPr>
              <a:xfrm>
                <a:off x="0" y="0"/>
                <a:ext cx="2667000" cy="2000100"/>
              </a:xfrm>
              <a:prstGeom prst="roundRect">
                <a:avLst>
                  <a:gd fmla="val 1904" name="adj"/>
                </a:avLst>
              </a:prstGeom>
              <a:solidFill>
                <a:srgbClr val="F4F4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7"/>
              <p:cNvSpPr/>
              <p:nvPr/>
            </p:nvSpPr>
            <p:spPr>
              <a:xfrm>
                <a:off x="0" y="0"/>
                <a:ext cx="26670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FCF40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7"/>
              <p:cNvSpPr txBox="1"/>
              <p:nvPr/>
            </p:nvSpPr>
            <p:spPr>
              <a:xfrm>
                <a:off x="190500" y="190500"/>
                <a:ext cx="22860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DATA LAYOUT</a:t>
                </a:r>
                <a:endParaRPr b="1" sz="11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VLOOKUP:</a:t>
                </a:r>
                <a:r>
                  <a:rPr b="0" lang="en" sz="130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 For vertical columns</a:t>
                </a:r>
                <a:endParaRPr/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HLOOKUP:</a:t>
                </a:r>
                <a:r>
                  <a:rPr b="0" lang="en" sz="130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 For horizontal rows</a:t>
                </a:r>
                <a:endParaRPr/>
              </a:p>
            </p:txBody>
          </p:sp>
        </p:grpSp>
        <p:grpSp>
          <p:nvGrpSpPr>
            <p:cNvPr id="119" name="Google Shape;119;p17"/>
            <p:cNvGrpSpPr/>
            <p:nvPr/>
          </p:nvGrpSpPr>
          <p:grpSpPr>
            <a:xfrm>
              <a:off x="2857500" y="0"/>
              <a:ext cx="2667000" cy="2000100"/>
              <a:chOff x="0" y="0"/>
              <a:chExt cx="2667000" cy="2000100"/>
            </a:xfrm>
          </p:grpSpPr>
          <p:sp>
            <p:nvSpPr>
              <p:cNvPr id="120" name="Google Shape;120;p17"/>
              <p:cNvSpPr/>
              <p:nvPr/>
            </p:nvSpPr>
            <p:spPr>
              <a:xfrm>
                <a:off x="0" y="0"/>
                <a:ext cx="2667000" cy="2000100"/>
              </a:xfrm>
              <a:prstGeom prst="roundRect">
                <a:avLst>
                  <a:gd fmla="val 1904" name="adj"/>
                </a:avLst>
              </a:prstGeom>
              <a:solidFill>
                <a:srgbClr val="F4F4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17"/>
              <p:cNvSpPr/>
              <p:nvPr/>
            </p:nvSpPr>
            <p:spPr>
              <a:xfrm>
                <a:off x="0" y="0"/>
                <a:ext cx="26670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11182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17"/>
              <p:cNvSpPr txBox="1"/>
              <p:nvPr/>
            </p:nvSpPr>
            <p:spPr>
              <a:xfrm>
                <a:off x="190500" y="190500"/>
                <a:ext cx="22860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INDEX REFERENCE</a:t>
                </a:r>
                <a:endParaRPr b="1" sz="11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VLOOKUP:</a:t>
                </a:r>
                <a:r>
                  <a:rPr b="0" lang="en" sz="130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 Relies on a Column Index</a:t>
                </a:r>
                <a:endParaRPr/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HLOOKUP:</a:t>
                </a:r>
                <a:r>
                  <a:rPr b="0" lang="en" sz="130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 Requires a Row Index</a:t>
                </a:r>
                <a:endParaRPr/>
              </a:p>
            </p:txBody>
          </p:sp>
        </p:grpSp>
        <p:grpSp>
          <p:nvGrpSpPr>
            <p:cNvPr id="123" name="Google Shape;123;p17"/>
            <p:cNvGrpSpPr/>
            <p:nvPr/>
          </p:nvGrpSpPr>
          <p:grpSpPr>
            <a:xfrm>
              <a:off x="0" y="2190750"/>
              <a:ext cx="5524500" cy="952500"/>
              <a:chOff x="0" y="0"/>
              <a:chExt cx="5524500" cy="952500"/>
            </a:xfrm>
          </p:grpSpPr>
          <p:sp>
            <p:nvSpPr>
              <p:cNvPr id="124" name="Google Shape;124;p17"/>
              <p:cNvSpPr/>
              <p:nvPr/>
            </p:nvSpPr>
            <p:spPr>
              <a:xfrm>
                <a:off x="0" y="0"/>
                <a:ext cx="5524500" cy="952500"/>
              </a:xfrm>
              <a:prstGeom prst="roundRect">
                <a:avLst>
                  <a:gd fmla="val 4000" name="adj"/>
                </a:avLst>
              </a:prstGeom>
              <a:solidFill>
                <a:srgbClr val="FCF40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7"/>
              <p:cNvSpPr/>
              <p:nvPr/>
            </p:nvSpPr>
            <p:spPr>
              <a:xfrm>
                <a:off x="0" y="0"/>
                <a:ext cx="57300" cy="952500"/>
              </a:xfrm>
              <a:prstGeom prst="roundRect">
                <a:avLst>
                  <a:gd fmla="val 33333" name="adj"/>
                </a:avLst>
              </a:prstGeom>
              <a:solidFill>
                <a:srgbClr val="11182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7"/>
              <p:cNvSpPr txBox="1"/>
              <p:nvPr/>
            </p:nvSpPr>
            <p:spPr>
              <a:xfrm>
                <a:off x="228600" y="152400"/>
                <a:ext cx="506730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RECOMMENDED RESOURCE</a:t>
                </a:r>
                <a:endParaRPr b="1" sz="9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Excel VLOOKUP &amp; HLOOKUP Tutorial</a:t>
                </a:r>
                <a:endParaRPr b="1" sz="13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00" u="sng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[link removed]</a:t>
                </a:r>
                <a:endParaRPr b="0" sz="1000" u="sng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pic>
        <p:nvPicPr>
          <p:cNvPr id="127" name="Google Shape;127;p17" title="alight_logo_rgb_yellow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173" l="0" r="0" t="5182"/>
          <a:stretch/>
        </p:blipFill>
        <p:spPr>
          <a:xfrm>
            <a:off x="8028050" y="251575"/>
            <a:ext cx="923100" cy="30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