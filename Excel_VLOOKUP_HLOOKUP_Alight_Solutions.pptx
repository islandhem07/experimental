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light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40080"/>
            <a:ext cx="127461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200"/>
                </a:solidFill>
                <a:latin typeface="Segoe UI"/>
              </a:defRPr>
            </a:pPr>
            <a:r>
              <a:t>ALIGHT SOLUTIONS  |  GLOBAL OPERATIONS ENABLEMENT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Mastering VLOOKUP &amp; HLOOKUP in Excel</a:t>
            </a:r>
          </a:p>
          <a:p>
            <a:pPr>
              <a:spcBef>
                <a:spcPts val="1200"/>
              </a:spcBef>
              <a:defRPr sz="1800">
                <a:solidFill>
                  <a:srgbClr val="E2E8F0"/>
                </a:solidFill>
                <a:latin typeface="Segoe UI"/>
              </a:defRPr>
            </a:pPr>
            <a:r>
              <a:t>A Step-by-Step, Visual Operational Guide for Backend Processing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57600"/>
            <a:ext cx="2286000" cy="54864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530352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FF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>
              <a:defRPr sz="1000" b="1">
                <a:solidFill>
                  <a:srgbClr val="FFF200"/>
                </a:solidFill>
                <a:latin typeface="Segoe UI"/>
              </a:defRPr>
            </a:pPr>
            <a:r>
              <a:rPr dirty="0"/>
              <a:t>PRESENTER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SUBHRA SINGH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rPr lang="en-IN" dirty="0"/>
              <a:t>Quality Analyst | Alight Solutions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977639"/>
            <a:ext cx="48463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>
              <a:defRPr sz="1000" b="1">
                <a:solidFill>
                  <a:srgbClr val="FFF200"/>
                </a:solidFill>
                <a:latin typeface="Segoe UI"/>
              </a:defRPr>
            </a:pPr>
            <a:r>
              <a:rPr dirty="0"/>
              <a:t>WHAT YOU WILL LEARN TODAY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dirty="0"/>
              <a:t>✔  The 4 simple ingredients in every lookup formula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dirty="0"/>
              <a:t>✔  VLOOKUP: Scanning vertical participant rosters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dirty="0"/>
              <a:t>✔  HLOOKUP: Scanning horizontal rating matrices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dirty="0"/>
              <a:t>✔  The #1 Golden Rule (Leftmost column requirement)</a:t>
            </a:r>
          </a:p>
          <a:p>
            <a:pPr>
              <a:spcBef>
                <a:spcPts val="3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rPr dirty="0"/>
              <a:t>✔  Troubleshooting #N/A, #REF!, and range lock fixes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CBD5E1"/>
                </a:solidFill>
                <a:latin typeface="Segoe U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9153144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Why Lookups Matter: Eliminating Manual Matching in Backend 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17320"/>
            <a:ext cx="5120640" cy="40233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1200" b="1">
                <a:solidFill>
                  <a:srgbClr val="DC2626"/>
                </a:solidFill>
                <a:latin typeface="Segoe UI"/>
              </a:defRPr>
            </a:pPr>
            <a:r>
              <a:t>THE MANUAL WAY (SLOW &amp; RISKY)</a:t>
            </a:r>
          </a:p>
          <a:p>
            <a:pPr>
              <a:spcBef>
                <a:spcPts val="800"/>
              </a:spcBef>
              <a:defRPr sz="1200" b="1">
                <a:solidFill>
                  <a:srgbClr val="991B1B"/>
                </a:solidFill>
                <a:latin typeface="Segoe UI"/>
              </a:defRPr>
            </a:pPr>
            <a:r>
              <a:t>✖  Ctrl + F Searching: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Manually searching ID-by-ID across 5,000 participant rows takes hours.</a:t>
            </a:r>
          </a:p>
          <a:p>
            <a:pPr>
              <a:spcBef>
                <a:spcPts val="800"/>
              </a:spcBef>
              <a:defRPr sz="1200" b="1">
                <a:solidFill>
                  <a:srgbClr val="991B1B"/>
                </a:solidFill>
                <a:latin typeface="Segoe UI"/>
              </a:defRPr>
            </a:pPr>
            <a:r>
              <a:t>✖  Copy-Paste Fatigue: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Repetitive copy-pasting causes accidental misalignment of employee plans.</a:t>
            </a:r>
          </a:p>
          <a:p>
            <a:pPr>
              <a:spcBef>
                <a:spcPts val="800"/>
              </a:spcBef>
              <a:defRPr sz="1200" b="1">
                <a:solidFill>
                  <a:srgbClr val="991B1B"/>
                </a:solidFill>
                <a:latin typeface="Segoe UI"/>
              </a:defRPr>
            </a:pPr>
            <a:r>
              <a:t>✖  High Error Rate: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One misplaced row can lead to incorrect benefit deductions or missed SLAs.</a:t>
            </a:r>
          </a:p>
          <a:p>
            <a:pPr>
              <a:spcBef>
                <a:spcPts val="800"/>
              </a:spcBef>
              <a:defRPr sz="1200" b="1">
                <a:solidFill>
                  <a:srgbClr val="991B1B"/>
                </a:solidFill>
                <a:latin typeface="Segoe UI"/>
              </a:defRPr>
            </a:pPr>
            <a:r>
              <a:t>✖  No Scalability: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Cannot easily re-run or refresh when new monthly files arrive from clients.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212080" cy="40233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tlCol="0" anchor="ctr"/>
          <a:lstStyle/>
          <a:p>
            <a:pPr algn="ctr">
              <a:defRPr sz="1200" b="1">
                <a:solidFill>
                  <a:srgbClr val="16A34A"/>
                </a:solidFill>
                <a:latin typeface="Segoe UI"/>
              </a:defRPr>
            </a:pPr>
            <a:r>
              <a:t>THE LOOKUP WAY (INSTANT &amp; 100% ACCURATE)</a:t>
            </a:r>
          </a:p>
          <a:p>
            <a:pPr>
              <a:spcBef>
                <a:spcPts val="800"/>
              </a:spcBef>
              <a:defRPr sz="1200" b="1">
                <a:solidFill>
                  <a:srgbClr val="166534"/>
                </a:solidFill>
                <a:latin typeface="Segoe UI"/>
              </a:defRPr>
            </a:pPr>
            <a:r>
              <a:t>✔  Instant Execution: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Excel matches thousands of rows in under 2 seconds automatically.</a:t>
            </a:r>
          </a:p>
          <a:p>
            <a:pPr>
              <a:spcBef>
                <a:spcPts val="800"/>
              </a:spcBef>
              <a:defRPr sz="1200" b="1">
                <a:solidFill>
                  <a:srgbClr val="166534"/>
                </a:solidFill>
                <a:latin typeface="Segoe UI"/>
              </a:defRPr>
            </a:pPr>
            <a:r>
              <a:t>✔  Zero Typing Mistakes: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Exact match ensures the correct participant plan is pulled every single time.</a:t>
            </a:r>
          </a:p>
          <a:p>
            <a:pPr>
              <a:spcBef>
                <a:spcPts val="800"/>
              </a:spcBef>
              <a:defRPr sz="1200" b="1">
                <a:solidFill>
                  <a:srgbClr val="166534"/>
                </a:solidFill>
                <a:latin typeface="Segoe UI"/>
              </a:defRPr>
            </a:pPr>
            <a:r>
              <a:t>✔  Audit-Ready &amp; Repeatable: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Formulas update instantly when source data is refreshed or audited.</a:t>
            </a:r>
          </a:p>
          <a:p>
            <a:pPr>
              <a:spcBef>
                <a:spcPts val="800"/>
              </a:spcBef>
              <a:defRPr sz="1200" b="1">
                <a:solidFill>
                  <a:srgbClr val="166534"/>
                </a:solidFill>
                <a:latin typeface="Segoe UI"/>
              </a:defRPr>
            </a:pPr>
            <a:r>
              <a:t>✔  Two Core Flavors: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VLOOKUP for vertical columns | HLOOKUP for horizontal matrices.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09728" rtlCol="0" anchor="ctr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THE GOLDEN DIRECTION RULE: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VLOOKUP = Vertical Lookup -&gt; Scans DOWN Columns (95%+ of backend spreadsheets).</a:t>
            </a:r>
          </a:p>
          <a:p>
            <a:pPr>
              <a:defRPr sz="1050" b="1">
                <a:solidFill>
                  <a:srgbClr val="0F172A"/>
                </a:solidFill>
                <a:latin typeface="Segoe UI"/>
              </a:defRPr>
            </a:pPr>
            <a:r>
              <a:t>• HLOOKUP = Horizontal Lookup -&gt; Scans ACROSS Rows (used for bonus tiers, tax brackets, and rate cards).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Anatomy of the Formula: The 4 Core Ingredients Explained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pic>
        <p:nvPicPr>
          <p:cNvPr id="6" name="Picture 5" descr="slide3_anatom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728655" cy="49620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Step-by-Step Guide: Using VLOOKUP on Employee Rosters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pic>
        <p:nvPicPr>
          <p:cNvPr id="6" name="Picture 5" descr="slide4_vlookup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53312"/>
            <a:ext cx="10728655" cy="49620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94283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The #1 Golden Rule of VLOOKUP: The Leftmost Column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pic>
        <p:nvPicPr>
          <p:cNvPr id="6" name="Picture 5" descr="slide5_leftmost_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71600"/>
            <a:ext cx="10728655" cy="49620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5 /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Understanding HLOOKUP: When Data Runs Horizontally in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pic>
        <p:nvPicPr>
          <p:cNvPr id="6" name="Picture 5" descr="slide2_mental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728655" cy="49620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Step-by-Step Guide: Using HLOOKUP on Rating &amp; Bonus Matrices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pic>
        <p:nvPicPr>
          <p:cNvPr id="6" name="Picture 5" descr="slide7_hlookup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53312"/>
            <a:ext cx="10728655" cy="49620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VLOOKUP vs HLOOKUP: Side-by-Side Quick Decision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pic>
        <p:nvPicPr>
          <p:cNvPr id="6" name="Picture 5" descr="slide8_deci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728655" cy="49620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Backend Troubleshooting: The 4 Biggest Excel Errors &amp;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pic>
        <p:nvPicPr>
          <p:cNvPr id="6" name="Picture 5" descr="slide9_troubleshoo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71600"/>
            <a:ext cx="10728655" cy="496200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84048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ALIGHT SOLUTIONS  |  BACKEND OPERATIONS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Quality Checklist &amp; Operational Best Practices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645920" cy="36576"/>
          </a:xfrm>
          <a:prstGeom prst="rect">
            <a:avLst/>
          </a:prstGeom>
          <a:solidFill>
            <a:srgbClr val="FFF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light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438912"/>
            <a:ext cx="882422" cy="411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74320" rtlCol="0" anchor="ctr"/>
          <a:lstStyle/>
          <a:p>
            <a:pPr algn="ctr">
              <a:defRPr sz="1300" b="1">
                <a:solidFill>
                  <a:srgbClr val="2563EB"/>
                </a:solidFill>
                <a:latin typeface="Segoe UI"/>
              </a:defRPr>
            </a:pPr>
            <a:r>
              <a:t>THE 5-POINT BACKEND PROCESSOR CHECKLIST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1. Lock Master Tables with F4 ($ signs)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Always verify your table array is locked ($A$2:$D$50). Dragging unlocked formulas shifts rows and causes valid records to throw #N/A errors.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2. Confirm Search Key is in Column 1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For VLOOKUP, your search key must sit in the first column of the selection. If key is in Column B, start your selection at B2:D50.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3. Always Finish with FALSE (or 0)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Never omit the 4th argument. In backend operations, approximate match defaults to TRUE and pulls incorrect participant records!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4. Clean Trailing Spaces with TRIM()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If an ID clearly exists but returns #N/A, hidden ERP spaces are usually to blame. Wrap the key in TRIM(F2) to sanitize it automatically.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 5. Check for Duplicate Search Keys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VLOOKUP always returns the first matching occurrence it finds. Ensure your search key is truly unique across the dataset.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FF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20040" rtlCol="0" anchor="ctr"/>
          <a:lstStyle/>
          <a:p>
            <a:pPr>
              <a:defRPr sz="1100" b="1">
                <a:solidFill>
                  <a:srgbClr val="FFF200"/>
                </a:solidFill>
                <a:latin typeface="Segoe UI"/>
              </a:defRPr>
            </a:pPr>
            <a:r>
              <a:rPr dirty="0"/>
              <a:t>TRAINING &amp; OPERATIONAL SUPPORT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Subhra Singh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  <a:latin typeface="Segoe UI"/>
              </a:defRPr>
            </a:pPr>
            <a:r>
              <a:rPr lang="en-IN" dirty="0"/>
              <a:t>Quality Analyst | </a:t>
            </a:r>
            <a:r>
              <a:rPr dirty="0"/>
              <a:t>Alight Solutions</a:t>
            </a:r>
          </a:p>
          <a:p>
            <a:pPr>
              <a:spcBef>
                <a:spcPts val="1000"/>
              </a:spcBef>
              <a:defRPr sz="800">
                <a:solidFill>
                  <a:srgbClr val="475569"/>
                </a:solidFill>
              </a:defRPr>
            </a:pPr>
            <a:r>
              <a:rPr dirty="0"/>
              <a:t>─────────────────────────────────</a:t>
            </a:r>
          </a:p>
          <a:p>
            <a:pPr>
              <a:spcBef>
                <a:spcPts val="1000"/>
              </a:spcBef>
              <a:defRPr sz="1000" b="1">
                <a:solidFill>
                  <a:srgbClr val="FFF200"/>
                </a:solidFill>
                <a:latin typeface="Segoe UI"/>
              </a:defRPr>
            </a:pPr>
            <a:endParaRPr lang="en-IN" dirty="0"/>
          </a:p>
          <a:p>
            <a:pPr>
              <a:spcBef>
                <a:spcPts val="1000"/>
              </a:spcBef>
              <a:defRPr sz="1000" b="1">
                <a:solidFill>
                  <a:srgbClr val="FFF200"/>
                </a:solidFill>
                <a:latin typeface="Segoe UI"/>
              </a:defRPr>
            </a:pPr>
            <a:r>
              <a:rPr dirty="0"/>
              <a:t>ADDITIONAL RESOURCES:</a:t>
            </a:r>
            <a:endParaRPr lang="en-IN" dirty="0"/>
          </a:p>
          <a:p>
            <a:pPr>
              <a:spcBef>
                <a:spcPts val="1000"/>
              </a:spcBef>
              <a:defRPr sz="1000" b="1">
                <a:solidFill>
                  <a:srgbClr val="FFF200"/>
                </a:solidFill>
                <a:latin typeface="Segoe UI"/>
              </a:defRPr>
            </a:pPr>
            <a:endParaRPr dirty="0"/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rPr dirty="0"/>
              <a:t>• Video Reference: Kevin </a:t>
            </a:r>
            <a:r>
              <a:rPr dirty="0" err="1"/>
              <a:t>Stratvert</a:t>
            </a:r>
            <a:r>
              <a:rPr dirty="0"/>
              <a:t> (Ex-Microsoft)</a:t>
            </a:r>
          </a:p>
          <a:p>
            <a:pPr>
              <a:spcBef>
                <a:spcPts val="4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rPr dirty="0"/>
              <a:t>• Weekly 1-on-1 Office Hours for Team Members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44652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54864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Alight Solutions  •  Internal Training Material  •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10528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745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Hemendra</dc:creator>
  <cp:keywords/>
  <dc:description>generated using python-pptx</dc:description>
  <cp:lastModifiedBy>Hemendra Singh Tanwer</cp:lastModifiedBy>
  <cp:revision>5</cp:revision>
  <dcterms:created xsi:type="dcterms:W3CDTF">2013-01-27T09:14:16Z</dcterms:created>
  <dcterms:modified xsi:type="dcterms:W3CDTF">2026-09-15T08:46:16Z</dcterms:modified>
  <cp:category/>
</cp:coreProperties>
</file>